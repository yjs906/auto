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18"/>
  </p:notesMasterIdLst>
  <p:sldIdLst>
    <p:sldId id="300" r:id="rId5"/>
    <p:sldId id="302" r:id="rId6"/>
    <p:sldId id="317" r:id="rId7"/>
    <p:sldId id="308" r:id="rId8"/>
    <p:sldId id="309" r:id="rId9"/>
    <p:sldId id="310" r:id="rId10"/>
    <p:sldId id="311" r:id="rId11"/>
    <p:sldId id="312" r:id="rId12"/>
    <p:sldId id="313" r:id="rId13"/>
    <p:sldId id="314" r:id="rId14"/>
    <p:sldId id="315" r:id="rId15"/>
    <p:sldId id="318" r:id="rId16"/>
    <p:sldId id="303" r:id="rId17"/>
  </p:sldIdLst>
  <p:sldSz cx="10691813" cy="7559675"/>
  <p:notesSz cx="6797675" cy="99298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367">
          <p15:clr>
            <a:srgbClr val="A4A3A4"/>
          </p15:clr>
        </p15:guide>
        <p15:guide id="3" pos="3458" userDrawn="1">
          <p15:clr>
            <a:srgbClr val="A4A3A4"/>
          </p15:clr>
        </p15:guide>
        <p15:guide id="4" orient="horz" pos="2358" userDrawn="1">
          <p15:clr>
            <a:srgbClr val="A4A3A4"/>
          </p15:clr>
        </p15:guide>
        <p15:guide id="5" orient="horz" pos="1156" userDrawn="1">
          <p15:clr>
            <a:srgbClr val="A4A3A4"/>
          </p15:clr>
        </p15:guide>
        <p15:guide id="6" orient="horz" pos="45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FAADC"/>
    <a:srgbClr val="FBE5D6"/>
    <a:srgbClr val="FF3300"/>
    <a:srgbClr val="0B3665"/>
    <a:srgbClr val="6EACC8"/>
    <a:srgbClr val="FF9900"/>
    <a:srgbClr val="3399FF"/>
    <a:srgbClr val="2D6BDB"/>
    <a:srgbClr val="1E51AE"/>
    <a:srgbClr val="0F2A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86" autoAdjust="0"/>
    <p:restoredTop sz="96224" autoAdjust="0"/>
  </p:normalViewPr>
  <p:slideViewPr>
    <p:cSldViewPr snapToGrid="0" showGuides="1">
      <p:cViewPr varScale="1">
        <p:scale>
          <a:sx n="98" d="100"/>
          <a:sy n="98" d="100"/>
        </p:scale>
        <p:origin x="80" y="1220"/>
      </p:cViewPr>
      <p:guideLst>
        <p:guide pos="3367"/>
        <p:guide pos="3458"/>
        <p:guide orient="horz" pos="2358"/>
        <p:guide orient="horz" pos="1156"/>
        <p:guide orient="horz" pos="4558"/>
      </p:guideLst>
    </p:cSldViewPr>
  </p:slideViewPr>
  <p:outlineViewPr>
    <p:cViewPr>
      <p:scale>
        <a:sx n="33" d="100"/>
        <a:sy n="33" d="100"/>
      </p:scale>
      <p:origin x="0" y="-1494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48A9AF-572E-4872-BEC0-7C4F79FCE70F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030288" y="1241425"/>
            <a:ext cx="47371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8722"/>
            <a:ext cx="5438140" cy="3909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24670A-C086-4EFE-B9A5-EA1DDAEA46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1497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>
            <a:extLst>
              <a:ext uri="{FF2B5EF4-FFF2-40B4-BE49-F238E27FC236}">
                <a16:creationId xmlns:a16="http://schemas.microsoft.com/office/drawing/2014/main" id="{9EEDC471-ECF8-4522-9E4F-1C31EC078AD9}"/>
              </a:ext>
            </a:extLst>
          </p:cNvPr>
          <p:cNvGrpSpPr/>
          <p:nvPr userDrawn="1"/>
        </p:nvGrpSpPr>
        <p:grpSpPr>
          <a:xfrm>
            <a:off x="490658" y="504877"/>
            <a:ext cx="588180" cy="161973"/>
            <a:chOff x="472189" y="507495"/>
            <a:chExt cx="588180" cy="161973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4AB6494-0FDD-468E-B073-AAAB08A82B05}"/>
                </a:ext>
              </a:extLst>
            </p:cNvPr>
            <p:cNvSpPr txBox="1"/>
            <p:nvPr userDrawn="1"/>
          </p:nvSpPr>
          <p:spPr>
            <a:xfrm>
              <a:off x="472189" y="519232"/>
              <a:ext cx="411972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altLang="ko-KR" sz="900" dirty="0">
                  <a:ln>
                    <a:solidFill>
                      <a:srgbClr val="0F2548">
                        <a:alpha val="0"/>
                      </a:srgbClr>
                    </a:solidFill>
                  </a:ln>
                  <a:solidFill>
                    <a:srgbClr val="09152D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Chapter</a:t>
              </a:r>
              <a:endParaRPr lang="ko-KR" altLang="en-US" sz="900" dirty="0">
                <a:ln>
                  <a:solidFill>
                    <a:srgbClr val="0F2548">
                      <a:alpha val="0"/>
                    </a:srgbClr>
                  </a:solidFill>
                </a:ln>
                <a:solidFill>
                  <a:srgbClr val="09152D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A3B80822-D077-40E0-8BCF-0340B856C3DF}"/>
                </a:ext>
              </a:extLst>
            </p:cNvPr>
            <p:cNvSpPr/>
            <p:nvPr userDrawn="1"/>
          </p:nvSpPr>
          <p:spPr>
            <a:xfrm>
              <a:off x="898396" y="507495"/>
              <a:ext cx="161973" cy="161973"/>
            </a:xfrm>
            <a:prstGeom prst="ellipse">
              <a:avLst/>
            </a:prstGeom>
            <a:solidFill>
              <a:srgbClr val="0915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1400" dirty="0">
                  <a:ln>
                    <a:solidFill>
                      <a:srgbClr val="0F2548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Ⅱ</a:t>
              </a:r>
              <a:endParaRPr lang="ko-KR" altLang="en-US" sz="1400" dirty="0">
                <a:ln>
                  <a:solidFill>
                    <a:srgbClr val="0F2548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9E00EF4-6344-DC57-1504-D936CB031C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94577" y="6955900"/>
            <a:ext cx="657523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74691A-8E59-481E-8278-C1EC6773A962}" type="slidenum">
              <a:rPr lang="ko-KR" altLang="en-US" smtClean="0">
                <a:latin typeface="맑은 고딕" panose="020B0503020000020004" pitchFamily="50" charset="-127"/>
              </a:rPr>
              <a:pPr/>
              <a:t>‹#›</a:t>
            </a:fld>
            <a:endParaRPr lang="ko-KR" altLang="en-US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8586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14AB6494-0FDD-468E-B073-AAAB08A82B05}"/>
              </a:ext>
            </a:extLst>
          </p:cNvPr>
          <p:cNvSpPr txBox="1"/>
          <p:nvPr userDrawn="1"/>
        </p:nvSpPr>
        <p:spPr>
          <a:xfrm>
            <a:off x="465145" y="226684"/>
            <a:ext cx="67608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altLang="ko-KR" sz="1400" b="1">
                <a:ln>
                  <a:solidFill>
                    <a:srgbClr val="0F2548">
                      <a:alpha val="0"/>
                    </a:srgbClr>
                  </a:solidFill>
                </a:ln>
                <a:solidFill>
                  <a:srgbClr val="09152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UROPⅠ</a:t>
            </a:r>
            <a:endParaRPr lang="ko-KR" altLang="en-US" sz="1400" b="1" dirty="0">
              <a:ln>
                <a:solidFill>
                  <a:srgbClr val="0F2548">
                    <a:alpha val="0"/>
                  </a:srgbClr>
                </a:solidFill>
              </a:ln>
              <a:solidFill>
                <a:srgbClr val="09152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7B442C0-9EF9-0DF5-EB95-9814FEAB71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94577" y="6955900"/>
            <a:ext cx="657523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74691A-8E59-481E-8278-C1EC6773A962}" type="slidenum">
              <a:rPr lang="ko-KR" altLang="en-US" smtClean="0">
                <a:latin typeface="맑은 고딕" panose="020B0503020000020004" pitchFamily="50" charset="-127"/>
              </a:rPr>
              <a:pPr/>
              <a:t>‹#›</a:t>
            </a:fld>
            <a:endParaRPr lang="ko-KR" altLang="en-US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35324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바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3999FAE-1E1F-40A9-8E2E-1BC9088BD2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0691813" cy="704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653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0CD1F678-97E2-4545-B1CA-A8C5C9E1BF73}"/>
              </a:ext>
            </a:extLst>
          </p:cNvPr>
          <p:cNvSpPr/>
          <p:nvPr userDrawn="1"/>
        </p:nvSpPr>
        <p:spPr>
          <a:xfrm>
            <a:off x="0" y="1038225"/>
            <a:ext cx="10692000" cy="162207"/>
          </a:xfrm>
          <a:prstGeom prst="rect">
            <a:avLst/>
          </a:prstGeom>
          <a:solidFill>
            <a:srgbClr val="0915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9672DB6-D07F-46A4-A0CC-43AC7C97A5C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691813" cy="1167321"/>
          </a:xfrm>
          <a:prstGeom prst="rect">
            <a:avLst/>
          </a:prstGeom>
        </p:spPr>
      </p:pic>
      <p:sp>
        <p:nvSpPr>
          <p:cNvPr id="9" name="사각형: 둥근 위쪽 모서리 8">
            <a:extLst>
              <a:ext uri="{FF2B5EF4-FFF2-40B4-BE49-F238E27FC236}">
                <a16:creationId xmlns:a16="http://schemas.microsoft.com/office/drawing/2014/main" id="{EC054DA7-21D2-4C39-8817-9445E9BC3628}"/>
              </a:ext>
            </a:extLst>
          </p:cNvPr>
          <p:cNvSpPr/>
          <p:nvPr userDrawn="1"/>
        </p:nvSpPr>
        <p:spPr>
          <a:xfrm flipV="1">
            <a:off x="425099" y="-1"/>
            <a:ext cx="719300" cy="1277253"/>
          </a:xfrm>
          <a:prstGeom prst="round2SameRect">
            <a:avLst>
              <a:gd name="adj1" fmla="val 11370"/>
              <a:gd name="adj2" fmla="val 0"/>
            </a:avLst>
          </a:prstGeom>
          <a:gradFill>
            <a:gsLst>
              <a:gs pos="85000">
                <a:schemeClr val="bg1">
                  <a:lumMod val="85000"/>
                </a:schemeClr>
              </a:gs>
              <a:gs pos="56000">
                <a:schemeClr val="bg1"/>
              </a:gs>
              <a:gs pos="27000">
                <a:schemeClr val="bg1">
                  <a:lumMod val="9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</a:endParaRPr>
          </a:p>
        </p:txBody>
      </p:sp>
      <p:sp>
        <p:nvSpPr>
          <p:cNvPr id="10" name="이등변 삼각형 9">
            <a:extLst>
              <a:ext uri="{FF2B5EF4-FFF2-40B4-BE49-F238E27FC236}">
                <a16:creationId xmlns:a16="http://schemas.microsoft.com/office/drawing/2014/main" id="{3B9D2E36-18E8-44C7-AD56-CFFCDEF667B8}"/>
              </a:ext>
            </a:extLst>
          </p:cNvPr>
          <p:cNvSpPr/>
          <p:nvPr userDrawn="1"/>
        </p:nvSpPr>
        <p:spPr>
          <a:xfrm>
            <a:off x="292101" y="-2"/>
            <a:ext cx="130274" cy="1200434"/>
          </a:xfrm>
          <a:prstGeom prst="triangle">
            <a:avLst>
              <a:gd name="adj" fmla="val 100000"/>
            </a:avLst>
          </a:prstGeom>
          <a:solidFill>
            <a:srgbClr val="0915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dirty="0">
              <a:latin typeface="맑은 고딕" panose="020B0503020000020004" pitchFamily="50" charset="-127"/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C1D9CFB1-9860-F11E-C39D-6838DA4C1C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94577" y="6955900"/>
            <a:ext cx="657523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74691A-8E59-481E-8278-C1EC6773A962}" type="slidenum">
              <a:rPr lang="ko-KR" altLang="en-US" smtClean="0">
                <a:latin typeface="맑은 고딕" panose="020B0503020000020004" pitchFamily="50" charset="-127"/>
              </a:rPr>
              <a:pPr/>
              <a:t>‹#›</a:t>
            </a:fld>
            <a:endParaRPr lang="ko-KR" altLang="en-US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53736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86" r:id="rId2"/>
    <p:sldLayoutId id="2147483685" r:id="rId3"/>
  </p:sldLayoutIdLst>
  <p:hf sldNum="0" hdr="0" ftr="0" dt="0"/>
  <p:txStyles>
    <p:titleStyle>
      <a:lvl1pPr algn="l" defTabSz="1007943" rtl="0" eaLnBrk="1" latinLnBrk="1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367">
          <p15:clr>
            <a:srgbClr val="F26B43"/>
          </p15:clr>
        </p15:guide>
        <p15:guide id="2" orient="horz" pos="2381">
          <p15:clr>
            <a:srgbClr val="F26B43"/>
          </p15:clr>
        </p15:guide>
        <p15:guide id="3" pos="3390">
          <p15:clr>
            <a:srgbClr val="F26B43"/>
          </p15:clr>
        </p15:guide>
        <p15:guide id="4" pos="3345">
          <p15:clr>
            <a:srgbClr val="F26B43"/>
          </p15:clr>
        </p15:guide>
        <p15:guide id="5" orient="horz" pos="748">
          <p15:clr>
            <a:srgbClr val="F26B43"/>
          </p15:clr>
        </p15:guide>
        <p15:guide id="6" pos="264">
          <p15:clr>
            <a:srgbClr val="F26B43"/>
          </p15:clr>
        </p15:guide>
        <p15:guide id="7" pos="6475">
          <p15:clr>
            <a:srgbClr val="F26B43"/>
          </p15:clr>
        </p15:guide>
        <p15:guide id="8" orient="horz" pos="44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8.png"/><Relationship Id="rId7" Type="http://schemas.openxmlformats.org/officeDocument/2006/relationships/image" Target="../media/image200.png"/><Relationship Id="rId12" Type="http://schemas.openxmlformats.org/officeDocument/2006/relationships/image" Target="../media/image2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.png"/><Relationship Id="rId11" Type="http://schemas.openxmlformats.org/officeDocument/2006/relationships/image" Target="../media/image24.png"/><Relationship Id="rId5" Type="http://schemas.openxmlformats.org/officeDocument/2006/relationships/image" Target="../media/image20.png"/><Relationship Id="rId10" Type="http://schemas.openxmlformats.org/officeDocument/2006/relationships/image" Target="../media/image23.png"/><Relationship Id="rId4" Type="http://schemas.openxmlformats.org/officeDocument/2006/relationships/image" Target="../media/image19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F03E29A7-043A-4770-9206-C834946AE229}"/>
              </a:ext>
            </a:extLst>
          </p:cNvPr>
          <p:cNvSpPr txBox="1"/>
          <p:nvPr/>
        </p:nvSpPr>
        <p:spPr>
          <a:xfrm>
            <a:off x="2673784" y="1473236"/>
            <a:ext cx="53442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1" ker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</a:t>
            </a:r>
            <a:r>
              <a:rPr lang="ko-KR" altLang="en-US" sz="2000" b="1" ker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2000" b="1" ker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UROP</a:t>
            </a:r>
            <a:endParaRPr lang="ko-KR" altLang="en-US" sz="2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0A1E17-25C5-42A0-A73F-9F651ADF7684}"/>
              </a:ext>
            </a:extLst>
          </p:cNvPr>
          <p:cNvSpPr txBox="1"/>
          <p:nvPr/>
        </p:nvSpPr>
        <p:spPr>
          <a:xfrm>
            <a:off x="3095075" y="1890342"/>
            <a:ext cx="450166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3200" b="1" ker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연구계획서</a:t>
            </a:r>
            <a:endParaRPr lang="ko-KR" altLang="en-US" sz="32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A38F653-FE83-4AF6-AB26-497B8B62310D}"/>
              </a:ext>
            </a:extLst>
          </p:cNvPr>
          <p:cNvSpPr txBox="1"/>
          <p:nvPr/>
        </p:nvSpPr>
        <p:spPr>
          <a:xfrm>
            <a:off x="4262645" y="4783674"/>
            <a:ext cx="21665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kern="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2026. 09. 21.</a:t>
            </a:r>
            <a:endParaRPr lang="ko-KR" altLang="en-US" sz="2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이등변 삼각형 25">
            <a:extLst>
              <a:ext uri="{FF2B5EF4-FFF2-40B4-BE49-F238E27FC236}">
                <a16:creationId xmlns:a16="http://schemas.microsoft.com/office/drawing/2014/main" id="{3E9BCD32-33D0-4FF9-936A-7B4B8403CF69}"/>
              </a:ext>
            </a:extLst>
          </p:cNvPr>
          <p:cNvSpPr/>
          <p:nvPr/>
        </p:nvSpPr>
        <p:spPr>
          <a:xfrm>
            <a:off x="2274001" y="2801460"/>
            <a:ext cx="79605" cy="116889"/>
          </a:xfrm>
          <a:prstGeom prst="triangle">
            <a:avLst>
              <a:gd name="adj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양쪽 모서리가 둥근 사각형 166">
            <a:extLst>
              <a:ext uri="{FF2B5EF4-FFF2-40B4-BE49-F238E27FC236}">
                <a16:creationId xmlns:a16="http://schemas.microsoft.com/office/drawing/2014/main" id="{CB19F375-95FD-4D04-AD0D-AD922147E1FA}"/>
              </a:ext>
            </a:extLst>
          </p:cNvPr>
          <p:cNvSpPr/>
          <p:nvPr/>
        </p:nvSpPr>
        <p:spPr>
          <a:xfrm rot="5400000">
            <a:off x="4359897" y="-614893"/>
            <a:ext cx="1892415" cy="8312766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tx1">
              <a:alpha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ln>
                <a:solidFill>
                  <a:srgbClr val="0F2548">
                    <a:alpha val="0"/>
                  </a:srgb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7E76D2E2-CB53-4D23-BBB0-8CC55C1D3C7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V="1">
            <a:off x="1149720" y="4128724"/>
            <a:ext cx="8312763" cy="676775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640C67C9-A130-44A8-8C77-994FB81CA46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149720" y="2481370"/>
            <a:ext cx="8312763" cy="241342"/>
          </a:xfrm>
          <a:prstGeom prst="rect">
            <a:avLst/>
          </a:prstGeom>
        </p:spPr>
      </p:pic>
      <p:sp>
        <p:nvSpPr>
          <p:cNvPr id="31" name="TextBox 36">
            <a:extLst>
              <a:ext uri="{FF2B5EF4-FFF2-40B4-BE49-F238E27FC236}">
                <a16:creationId xmlns:a16="http://schemas.microsoft.com/office/drawing/2014/main" id="{CCC54D7F-EFDB-4C0E-87FA-3978BED1A81E}"/>
              </a:ext>
            </a:extLst>
          </p:cNvPr>
          <p:cNvSpPr txBox="1"/>
          <p:nvPr/>
        </p:nvSpPr>
        <p:spPr>
          <a:xfrm>
            <a:off x="1414585" y="2730388"/>
            <a:ext cx="7862641" cy="15696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306" kern="1200">
                <a:solidFill>
                  <a:srgbClr val="292929"/>
                </a:solidFill>
                <a:latin typeface="Rix모던고딕 EB" pitchFamily="18" charset="-127"/>
                <a:ea typeface="굴림" charset="-127"/>
                <a:cs typeface="+mn-cs"/>
              </a:defRPr>
            </a:lvl1pPr>
            <a:lvl2pPr marL="494297" indent="3457" algn="l" rtl="0" fontAlgn="base" latinLnBrk="1">
              <a:spcBef>
                <a:spcPct val="0"/>
              </a:spcBef>
              <a:spcAft>
                <a:spcPct val="0"/>
              </a:spcAft>
              <a:defRPr kumimoji="1" sz="1306" kern="1200">
                <a:solidFill>
                  <a:srgbClr val="292929"/>
                </a:solidFill>
                <a:latin typeface="Rix모던고딕 EB" pitchFamily="18" charset="-127"/>
                <a:ea typeface="굴림" charset="-127"/>
                <a:cs typeface="+mn-cs"/>
              </a:defRPr>
            </a:lvl2pPr>
            <a:lvl3pPr marL="990323" indent="5185" algn="l" rtl="0" fontAlgn="base" latinLnBrk="1">
              <a:spcBef>
                <a:spcPct val="0"/>
              </a:spcBef>
              <a:spcAft>
                <a:spcPct val="0"/>
              </a:spcAft>
              <a:defRPr kumimoji="1" sz="1306" kern="1200">
                <a:solidFill>
                  <a:srgbClr val="292929"/>
                </a:solidFill>
                <a:latin typeface="Rix모던고딕 EB" pitchFamily="18" charset="-127"/>
                <a:ea typeface="굴림" charset="-127"/>
                <a:cs typeface="+mn-cs"/>
              </a:defRPr>
            </a:lvl3pPr>
            <a:lvl4pPr marL="1486348" indent="6913" algn="l" rtl="0" fontAlgn="base" latinLnBrk="1">
              <a:spcBef>
                <a:spcPct val="0"/>
              </a:spcBef>
              <a:spcAft>
                <a:spcPct val="0"/>
              </a:spcAft>
              <a:defRPr kumimoji="1" sz="1306" kern="1200">
                <a:solidFill>
                  <a:srgbClr val="292929"/>
                </a:solidFill>
                <a:latin typeface="Rix모던고딕 EB" pitchFamily="18" charset="-127"/>
                <a:ea typeface="굴림" charset="-127"/>
                <a:cs typeface="+mn-cs"/>
              </a:defRPr>
            </a:lvl4pPr>
            <a:lvl5pPr marL="1980645" indent="10370" algn="l" rtl="0" fontAlgn="base" latinLnBrk="1">
              <a:spcBef>
                <a:spcPct val="0"/>
              </a:spcBef>
              <a:spcAft>
                <a:spcPct val="0"/>
              </a:spcAft>
              <a:defRPr kumimoji="1" sz="1306" kern="1200">
                <a:solidFill>
                  <a:srgbClr val="292929"/>
                </a:solidFill>
                <a:latin typeface="Rix모던고딕 EB" pitchFamily="18" charset="-127"/>
                <a:ea typeface="굴림" charset="-127"/>
                <a:cs typeface="+mn-cs"/>
              </a:defRPr>
            </a:lvl5pPr>
            <a:lvl6pPr marL="2488768" algn="l" defTabSz="995507" rtl="0" eaLnBrk="1" latinLnBrk="1" hangingPunct="1">
              <a:defRPr kumimoji="1" sz="1306" kern="1200">
                <a:solidFill>
                  <a:srgbClr val="292929"/>
                </a:solidFill>
                <a:latin typeface="Rix모던고딕 EB" pitchFamily="18" charset="-127"/>
                <a:ea typeface="굴림" charset="-127"/>
                <a:cs typeface="+mn-cs"/>
              </a:defRPr>
            </a:lvl6pPr>
            <a:lvl7pPr marL="2986522" algn="l" defTabSz="995507" rtl="0" eaLnBrk="1" latinLnBrk="1" hangingPunct="1">
              <a:defRPr kumimoji="1" sz="1306" kern="1200">
                <a:solidFill>
                  <a:srgbClr val="292929"/>
                </a:solidFill>
                <a:latin typeface="Rix모던고딕 EB" pitchFamily="18" charset="-127"/>
                <a:ea typeface="굴림" charset="-127"/>
                <a:cs typeface="+mn-cs"/>
              </a:defRPr>
            </a:lvl7pPr>
            <a:lvl8pPr marL="3484275" algn="l" defTabSz="995507" rtl="0" eaLnBrk="1" latinLnBrk="1" hangingPunct="1">
              <a:defRPr kumimoji="1" sz="1306" kern="1200">
                <a:solidFill>
                  <a:srgbClr val="292929"/>
                </a:solidFill>
                <a:latin typeface="Rix모던고딕 EB" pitchFamily="18" charset="-127"/>
                <a:ea typeface="굴림" charset="-127"/>
                <a:cs typeface="+mn-cs"/>
              </a:defRPr>
            </a:lvl8pPr>
            <a:lvl9pPr marL="3982029" algn="l" defTabSz="995507" rtl="0" eaLnBrk="1" latinLnBrk="1" hangingPunct="1">
              <a:defRPr kumimoji="1" sz="1306" kern="1200">
                <a:solidFill>
                  <a:srgbClr val="292929"/>
                </a:solidFill>
                <a:latin typeface="Rix모던고딕 EB" pitchFamily="18" charset="-127"/>
                <a:ea typeface="굴림" charset="-127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2400" b="1" dirty="0">
                <a:ln w="1270">
                  <a:noFill/>
                </a:ln>
                <a:gradFill>
                  <a:gsLst>
                    <a:gs pos="95413">
                      <a:schemeClr val="bg1"/>
                    </a:gs>
                    <a:gs pos="86239">
                      <a:schemeClr val="bg1"/>
                    </a:gs>
                  </a:gsLst>
                  <a:lin ang="54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카메라 한계상황을 극복하기 위한 카메라 정보 후처리 </a:t>
            </a:r>
            <a:endParaRPr lang="en-US" altLang="ko-KR" sz="2400" b="1" dirty="0">
              <a:ln w="1270">
                <a:noFill/>
              </a:ln>
              <a:gradFill>
                <a:gsLst>
                  <a:gs pos="95413">
                    <a:schemeClr val="bg1"/>
                  </a:gs>
                  <a:gs pos="86239">
                    <a:schemeClr val="bg1"/>
                  </a:gs>
                </a:gsLst>
                <a:lin ang="5400000" scaled="1"/>
              </a:gra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defRPr/>
            </a:pPr>
            <a:r>
              <a:rPr lang="ko-KR" altLang="en-US" sz="2400" b="1" dirty="0">
                <a:ln w="1270">
                  <a:noFill/>
                </a:ln>
                <a:gradFill>
                  <a:gsLst>
                    <a:gs pos="95413">
                      <a:schemeClr val="bg1"/>
                    </a:gs>
                    <a:gs pos="86239">
                      <a:schemeClr val="bg1"/>
                    </a:gs>
                  </a:gsLst>
                  <a:lin ang="54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기술 및 상용차 특성을 고려한 경로 생성 기술 개발</a:t>
            </a:r>
          </a:p>
          <a:p>
            <a:pPr algn="ctr">
              <a:defRPr/>
            </a:pPr>
            <a:r>
              <a:rPr lang="en-US" altLang="ko-KR" sz="1800" b="1" dirty="0">
                <a:ln w="1270">
                  <a:noFill/>
                </a:ln>
                <a:gradFill>
                  <a:gsLst>
                    <a:gs pos="95413">
                      <a:schemeClr val="bg1"/>
                    </a:gs>
                    <a:gs pos="86239">
                      <a:schemeClr val="bg1"/>
                    </a:gs>
                  </a:gsLst>
                  <a:lin ang="54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Development of Camera Information Post-processing Technology to Overcome Camera Limitation Scenarios and Path Generation Technology Considering Commercial Vehicle Characteristics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C53DB33-8CCC-460B-A4D1-60BA90466F61}"/>
              </a:ext>
            </a:extLst>
          </p:cNvPr>
          <p:cNvSpPr txBox="1"/>
          <p:nvPr/>
        </p:nvSpPr>
        <p:spPr>
          <a:xfrm>
            <a:off x="6331396" y="5457319"/>
            <a:ext cx="375587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kern="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지능로봇학과 </a:t>
            </a:r>
            <a:br>
              <a:rPr lang="en-US" altLang="ko-KR" kern="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kern="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지도교수 </a:t>
            </a:r>
            <a:r>
              <a:rPr lang="en-US" altLang="ko-KR" kern="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kern="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재 풍 </a:t>
            </a:r>
            <a:endParaRPr lang="en-US" altLang="ko-KR" kern="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kern="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 턴 생  </a:t>
            </a:r>
            <a:r>
              <a:rPr lang="en-US" altLang="ko-KR" kern="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kern="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 진 승 </a:t>
            </a:r>
            <a:r>
              <a:rPr lang="en-US" altLang="ko-KR" kern="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(2023042050)</a:t>
            </a:r>
          </a:p>
          <a:p>
            <a:r>
              <a:rPr lang="en-US" altLang="ko-KR" kern="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</a:t>
            </a:r>
            <a:r>
              <a:rPr lang="ko-KR" altLang="en-US" kern="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 준 호</a:t>
            </a:r>
            <a:r>
              <a:rPr lang="en-US" altLang="ko-KR" kern="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(2022042037)</a:t>
            </a:r>
            <a:endParaRPr lang="ko-KR" altLang="en-US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B2516F6-F930-28B7-9ECC-1CA39CF7A28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6046" b="-106"/>
          <a:stretch/>
        </p:blipFill>
        <p:spPr>
          <a:xfrm>
            <a:off x="170959" y="7089688"/>
            <a:ext cx="1532714" cy="422662"/>
          </a:xfrm>
          <a:prstGeom prst="rect">
            <a:avLst/>
          </a:prstGeom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E8DFF846-3A49-4711-B7DB-104EF2B8E512}"/>
              </a:ext>
            </a:extLst>
          </p:cNvPr>
          <p:cNvGrpSpPr/>
          <p:nvPr/>
        </p:nvGrpSpPr>
        <p:grpSpPr>
          <a:xfrm>
            <a:off x="9015753" y="7056416"/>
            <a:ext cx="1505101" cy="489206"/>
            <a:chOff x="7509620" y="274007"/>
            <a:chExt cx="1505101" cy="489206"/>
          </a:xfrm>
        </p:grpSpPr>
        <p:pic>
          <p:nvPicPr>
            <p:cNvPr id="21" name="Picture 4">
              <a:extLst>
                <a:ext uri="{FF2B5EF4-FFF2-40B4-BE49-F238E27FC236}">
                  <a16:creationId xmlns:a16="http://schemas.microsoft.com/office/drawing/2014/main" id="{F3867A00-812C-449A-B844-106275A373E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09620" y="274007"/>
              <a:ext cx="690198" cy="4892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1FC896F-2774-4338-A5FA-49AA545FAEF3}"/>
                </a:ext>
              </a:extLst>
            </p:cNvPr>
            <p:cNvSpPr txBox="1"/>
            <p:nvPr userDrawn="1"/>
          </p:nvSpPr>
          <p:spPr>
            <a:xfrm>
              <a:off x="8009318" y="287778"/>
              <a:ext cx="10054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b="1">
                  <a:solidFill>
                    <a:srgbClr val="5BA6D0"/>
                  </a:solidFill>
                  <a:latin typeface="+mn-lt"/>
                </a:rPr>
                <a:t>     충북대학교</a:t>
              </a:r>
              <a:endParaRPr lang="en-US" altLang="ko-KR" sz="800" b="1">
                <a:solidFill>
                  <a:srgbClr val="5BA6D0"/>
                </a:solidFill>
                <a:latin typeface="+mn-lt"/>
              </a:endParaRPr>
            </a:p>
            <a:p>
              <a:r>
                <a:rPr lang="ko-KR" altLang="en-US" sz="800" b="1">
                  <a:solidFill>
                    <a:srgbClr val="5BA6D0"/>
                  </a:solidFill>
                  <a:latin typeface="+mn-lt"/>
                </a:rPr>
                <a:t>혁신융합대학사업</a:t>
              </a:r>
              <a:endParaRPr lang="en-US" altLang="ko-KR" sz="800" b="1">
                <a:solidFill>
                  <a:srgbClr val="5BA6D0"/>
                </a:solidFill>
                <a:latin typeface="+mn-lt"/>
              </a:endParaRPr>
            </a:p>
            <a:p>
              <a:r>
                <a:rPr lang="ko-KR" altLang="en-US" sz="800" b="1">
                  <a:solidFill>
                    <a:srgbClr val="5BA6D0"/>
                  </a:solidFill>
                  <a:latin typeface="+mn-lt"/>
                </a:rPr>
                <a:t>미래자동차공학과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48928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>
            <a:extLst>
              <a:ext uri="{FF2B5EF4-FFF2-40B4-BE49-F238E27FC236}">
                <a16:creationId xmlns:a16="http://schemas.microsoft.com/office/drawing/2014/main" id="{9537144D-1D25-426B-A3A6-C327E6386C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70029"/>
            <a:ext cx="10691813" cy="498912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D2A935DB-08EF-4A75-B802-98518BDD913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006"/>
          <a:stretch/>
        </p:blipFill>
        <p:spPr>
          <a:xfrm>
            <a:off x="0" y="519"/>
            <a:ext cx="10691813" cy="25695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21A9DC-AC6D-439C-8314-22ADEF175466}"/>
              </a:ext>
            </a:extLst>
          </p:cNvPr>
          <p:cNvSpPr txBox="1"/>
          <p:nvPr/>
        </p:nvSpPr>
        <p:spPr>
          <a:xfrm>
            <a:off x="416434" y="1074267"/>
            <a:ext cx="4074156" cy="83099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l"/>
            <a:r>
              <a:rPr lang="en-US" altLang="ko-KR" sz="2400" b="1" ker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</a:t>
            </a:r>
            <a:r>
              <a:rPr lang="ko-KR" altLang="en-US" sz="2400" b="1" ker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2400" b="1" ker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UROP</a:t>
            </a:r>
          </a:p>
          <a:p>
            <a:pPr algn="l"/>
            <a:r>
              <a:rPr lang="ko-KR" altLang="en-US" sz="2400" b="1" ker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연구계획서</a:t>
            </a:r>
            <a:endParaRPr lang="ko-KR" altLang="en-US" sz="2400" b="1" dirty="0">
              <a:ln>
                <a:solidFill>
                  <a:srgbClr val="0F2548">
                    <a:alpha val="0"/>
                  </a:srgb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양쪽 모서리가 둥근 사각형 71">
            <a:extLst>
              <a:ext uri="{FF2B5EF4-FFF2-40B4-BE49-F238E27FC236}">
                <a16:creationId xmlns:a16="http://schemas.microsoft.com/office/drawing/2014/main" id="{3D80CE5D-E131-4078-AEE0-337C9DF34BD2}"/>
              </a:ext>
            </a:extLst>
          </p:cNvPr>
          <p:cNvSpPr/>
          <p:nvPr/>
        </p:nvSpPr>
        <p:spPr>
          <a:xfrm rot="16200000" flipV="1">
            <a:off x="2032861" y="1766579"/>
            <a:ext cx="3822149" cy="6275597"/>
          </a:xfrm>
          <a:prstGeom prst="round2SameRect">
            <a:avLst>
              <a:gd name="adj1" fmla="val 4179"/>
              <a:gd name="adj2" fmla="val 0"/>
            </a:avLst>
          </a:prstGeom>
          <a:gradFill>
            <a:gsLst>
              <a:gs pos="39000">
                <a:srgbClr val="0156B3"/>
              </a:gs>
              <a:gs pos="20000">
                <a:srgbClr val="193A7D"/>
              </a:gs>
              <a:gs pos="0">
                <a:srgbClr val="000F23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30E9EA-92BB-4DBE-981F-5AD700A21180}"/>
              </a:ext>
            </a:extLst>
          </p:cNvPr>
          <p:cNvSpPr txBox="1"/>
          <p:nvPr/>
        </p:nvSpPr>
        <p:spPr>
          <a:xfrm>
            <a:off x="409485" y="1851234"/>
            <a:ext cx="2365712" cy="707886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l"/>
            <a:r>
              <a:rPr lang="en-US" altLang="ko-KR" sz="4000" b="1" dirty="0">
                <a:ln>
                  <a:solidFill>
                    <a:srgbClr val="0F2548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Contents</a:t>
            </a:r>
            <a:endParaRPr lang="ko-KR" altLang="en-US" sz="4000" b="1" dirty="0">
              <a:ln>
                <a:solidFill>
                  <a:srgbClr val="0F2548">
                    <a:alpha val="0"/>
                  </a:srgb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251BEF96-9EEA-4871-B419-623BCF59AD15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362" t="30504" r="1794"/>
          <a:stretch/>
        </p:blipFill>
        <p:spPr>
          <a:xfrm>
            <a:off x="7372459" y="39494"/>
            <a:ext cx="2972233" cy="2953809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840C53F8-6952-47C3-8722-02C449FB8112}"/>
              </a:ext>
            </a:extLst>
          </p:cNvPr>
          <p:cNvPicPr/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930" r="-1"/>
          <a:stretch/>
        </p:blipFill>
        <p:spPr>
          <a:xfrm rot="16200000" flipV="1">
            <a:off x="8226289" y="1725985"/>
            <a:ext cx="2922416" cy="2008633"/>
          </a:xfrm>
          <a:prstGeom prst="rect">
            <a:avLst/>
          </a:prstGeom>
        </p:spPr>
      </p:pic>
      <p:graphicFrame>
        <p:nvGraphicFramePr>
          <p:cNvPr id="6" name="Group 677">
            <a:extLst>
              <a:ext uri="{FF2B5EF4-FFF2-40B4-BE49-F238E27FC236}">
                <a16:creationId xmlns:a16="http://schemas.microsoft.com/office/drawing/2014/main" id="{A67A431E-61DE-006E-65B9-EFF512EB89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9154474"/>
              </p:ext>
            </p:extLst>
          </p:nvPr>
        </p:nvGraphicFramePr>
        <p:xfrm>
          <a:off x="1335532" y="3206877"/>
          <a:ext cx="5039328" cy="3505208"/>
        </p:xfrm>
        <a:graphic>
          <a:graphicData uri="http://schemas.openxmlformats.org/drawingml/2006/table">
            <a:tbl>
              <a:tblPr/>
              <a:tblGrid>
                <a:gridCol w="4781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1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3393">
                <a:tc>
                  <a:txBody>
                    <a:bodyPr/>
                    <a:lstStyle/>
                    <a:p>
                      <a:pPr marL="400050" marR="0" lvl="1" indent="-400050" algn="l" defTabSz="957263" rtl="0" eaLnBrk="1" fontAlgn="base" latinLnBrk="1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00000"/>
                        <a:buFont typeface="+mj-lt"/>
                        <a:buAutoNum type="romanUcPeriod"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연구 추진 배경</a:t>
                      </a:r>
                    </a:p>
                  </a:txBody>
                  <a:tcPr marL="0" marR="0" marT="18003" marB="18003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0" marR="0" marT="18003" marB="18003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45">
                <a:tc>
                  <a:txBody>
                    <a:bodyPr/>
                    <a:lstStyle/>
                    <a:p>
                      <a:pPr marL="400050" marR="0" lvl="1" indent="-400050" algn="l" defTabSz="957263" rtl="0" eaLnBrk="1" fontAlgn="base" latinLnBrk="1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00000"/>
                        <a:buFont typeface="+mj-lt"/>
                        <a:buAutoNum type="romanUcPeriod" startAt="2"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연구내용 및 평가방법</a:t>
                      </a:r>
                    </a:p>
                  </a:txBody>
                  <a:tcPr marL="0" marR="0" marT="18003" marB="18003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0" marR="0" marT="18003" marB="18003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45">
                <a:tc>
                  <a:txBody>
                    <a:bodyPr/>
                    <a:lstStyle/>
                    <a:p>
                      <a:pPr marL="0" marR="0" lvl="2" indent="0" algn="l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1.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차선정보 및 목표 경로 시각화 환경 구축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18003" marB="18003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18003" marB="18003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545">
                <a:tc>
                  <a:txBody>
                    <a:bodyPr/>
                    <a:lstStyle/>
                    <a:p>
                      <a:pPr marL="0" marR="0" lvl="2" indent="0" algn="l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2.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차선정보 및 목표 경로 평가지표 개발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18003" marB="18003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18003" marB="18003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4545">
                <a:tc>
                  <a:txBody>
                    <a:bodyPr/>
                    <a:lstStyle/>
                    <a:p>
                      <a:pPr marL="0" marR="0" lvl="2" indent="0" algn="l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3.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시계열 기반 차선 보정 알고리즘 개발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18003" marB="18003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18003" marB="18003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4545">
                <a:tc>
                  <a:txBody>
                    <a:bodyPr/>
                    <a:lstStyle/>
                    <a:p>
                      <a:pPr marL="0" marR="0" lvl="2" indent="0" algn="l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4. 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상용차 기준 목표 경로 생성 알고리즘 개발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18003" marB="18003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18003" marB="18003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072560"/>
                  </a:ext>
                </a:extLst>
              </a:tr>
              <a:tr h="444545">
                <a:tc>
                  <a:txBody>
                    <a:bodyPr/>
                    <a:lstStyle/>
                    <a:p>
                      <a:pPr marL="361950" marR="0" lvl="1" indent="-361950" algn="l" defTabSz="957263" rtl="0" eaLnBrk="1" fontAlgn="base" latinLnBrk="1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00000"/>
                        <a:buFont typeface="+mj-lt"/>
                        <a:buAutoNum type="romanUcPeriod" startAt="3"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향후 추진 일정</a:t>
                      </a:r>
                    </a:p>
                  </a:txBody>
                  <a:tcPr marL="0" marR="0" marT="18003" marB="18003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0" marR="0" marT="18003" marB="18003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4545">
                <a:tc>
                  <a:txBody>
                    <a:bodyPr/>
                    <a:lstStyle/>
                    <a:p>
                      <a:pPr marL="361950" marR="0" lvl="1" indent="-361950" algn="l" defTabSz="957263" rtl="0" eaLnBrk="1" fontAlgn="base" latinLnBrk="1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+mj-lt"/>
                        <a:buAutoNum type="romanUcPeriod" startAt="4"/>
                        <a:tabLst/>
                      </a:pP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18003" marB="18003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18003" marB="18003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8807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878C0-85E5-B22F-1DF8-CAD8A4E5C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B8D6BFB-7808-2262-C775-1D730A8EF668}"/>
              </a:ext>
            </a:extLst>
          </p:cNvPr>
          <p:cNvSpPr txBox="1"/>
          <p:nvPr/>
        </p:nvSpPr>
        <p:spPr>
          <a:xfrm>
            <a:off x="1304364" y="599583"/>
            <a:ext cx="78396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연구 추진 배경</a:t>
            </a:r>
            <a:endParaRPr lang="ko-KR" altLang="en-US" sz="2800" i="1" dirty="0">
              <a:solidFill>
                <a:srgbClr val="FF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C21A5EA-2B02-3A14-77C9-B4CE9C2DCAF6}"/>
              </a:ext>
            </a:extLst>
          </p:cNvPr>
          <p:cNvSpPr txBox="1"/>
          <p:nvPr/>
        </p:nvSpPr>
        <p:spPr>
          <a:xfrm>
            <a:off x="10134769" y="7077075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E2886697-6AD6-4FDA-9E51-14A767932366}" type="slidenum">
              <a:rPr lang="ko-KR" altLang="en-US" sz="1200" smtClean="0"/>
              <a:t>3</a:t>
            </a:fld>
            <a:endParaRPr lang="ko-KR" altLang="en-US" sz="120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17CAA14-E4F6-83F7-48DF-795A489F34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7830074"/>
              </p:ext>
            </p:extLst>
          </p:nvPr>
        </p:nvGraphicFramePr>
        <p:xfrm>
          <a:off x="633132" y="1563913"/>
          <a:ext cx="9182100" cy="53961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52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568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66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연구주제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키워드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51" marR="91451" marT="45715" marB="4571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20000"/>
                        </a:lnSpc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카메라 한계상황 대응을 위한 차선 정보 후처리 및 상용차 특성을 고려한 경로 생성 기술 개발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51" marR="91451" marT="45715" marB="4571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5804303"/>
                  </a:ext>
                </a:extLst>
              </a:tr>
              <a:tr h="14282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연구개발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추진 필요성</a:t>
                      </a:r>
                    </a:p>
                  </a:txBody>
                  <a:tcPr marL="91451" marR="91451" marT="45715" marB="4571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카메라 차선정보는 점선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실선 전환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지그재그 차선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유효거리 감소 등 한계상황에서 위치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헤딩각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곡률 정보가 불연속적으로 변할 수 있음</a:t>
                      </a:r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 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compensation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이후에도 일부 구간에서 불연속이 여전히 발생하며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이는 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x-y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목표 경로 흔들림과 </a:t>
                      </a:r>
                      <a:r>
                        <a:rPr lang="ko-KR" altLang="en-US" sz="10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조향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입력 진동 초래</a:t>
                      </a:r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실차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성능 저하 발생 시 원인이 카메라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compensation, planning,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제어기 중 어느 단계인지 분리 분석하기 어려움</a:t>
                      </a:r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상용차는 긴 </a:t>
                      </a:r>
                      <a:r>
                        <a:rPr lang="ko-KR" altLang="en-US" sz="10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축거와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조향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응답 지연 특성이 크므로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차선정보 안정화와 상용차 목표 경로 생성 기술이 필요함</a:t>
                      </a:r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51" marR="91451" marT="45715" marB="4571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6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연구개발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목표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달성목표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포함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51" marR="91451" marT="45715" marB="4571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raw/comp/proposed/planning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경로를 동일 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x-y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좌표계와 </a:t>
                      </a:r>
                      <a:r>
                        <a:rPr lang="ko-KR" altLang="en-US" sz="10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시간축에서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비교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0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시각화하는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평가환경 개발</a:t>
                      </a:r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정상구간 </a:t>
                      </a:r>
                      <a:r>
                        <a:rPr lang="ko-KR" altLang="en-US" sz="10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일치성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한계상황 경로 연속성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상용차 제약만족도 기반 평가지표 개발</a:t>
                      </a:r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이전 차선정보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 차선정보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차량 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state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활용한 시계열 기반 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compensation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알고리즘 개발</a:t>
                      </a:r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ego-motion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기반 차선 정합 및 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robust refitting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기법 개발</a:t>
                      </a:r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상용차의 곡률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곡률변화율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조향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응답 제약 등을 고려한 목표 경로 생성 알고리즘 개발</a:t>
                      </a:r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51" marR="91451" marT="45715" marB="4571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2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주요 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결과물</a:t>
                      </a:r>
                    </a:p>
                  </a:txBody>
                  <a:tcPr marL="91451" marR="91451" marT="45715" marB="4571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차선정보 및 목표 경로 평가 민 분석 환경 </a:t>
                      </a:r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차선정보 품질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경로 연속성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정상구간 </a:t>
                      </a:r>
                      <a:r>
                        <a:rPr lang="ko-KR" altLang="en-US" sz="10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일치성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평가 지표</a:t>
                      </a:r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시계열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차량 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state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기반 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compensation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후보 알고리즘</a:t>
                      </a:r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상용차 제약 기반 목표 경로 생성 알고리즘</a:t>
                      </a:r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51" marR="91451" marT="45715" marB="4571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6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기대 효과</a:t>
                      </a:r>
                    </a:p>
                  </a:txBody>
                  <a:tcPr marL="91451" marR="91451" marT="45715" marB="4571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카메라 차선정보 불연속이 최종 경로 품질 및 제어 성능에 미치는 영향 정량 분석</a:t>
                      </a:r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실차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성능 저하 원인을 카메라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compensation, planning,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제어기 관점에서 분리 진단할 수 있는 개발환경 확보</a:t>
                      </a:r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카메라 한계상황에서도 상용차 주행 특성에 적합한 연속적 목표 경로 생성 기술 확보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51" marR="91451" marT="45715" marB="4571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6627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F5428-F50E-EC7C-91AC-2ED168049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D29FC34-B7EE-FF0F-4EEF-FF6BA4209AB6}"/>
              </a:ext>
            </a:extLst>
          </p:cNvPr>
          <p:cNvSpPr txBox="1"/>
          <p:nvPr/>
        </p:nvSpPr>
        <p:spPr>
          <a:xfrm>
            <a:off x="1304364" y="599583"/>
            <a:ext cx="78396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연구내용 및 평가방법</a:t>
            </a:r>
            <a:endParaRPr lang="ko-KR" altLang="en-US" sz="2800" i="1" dirty="0">
              <a:solidFill>
                <a:srgbClr val="FF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127121D-602C-7EA8-1529-44EC2B1B470F}"/>
              </a:ext>
            </a:extLst>
          </p:cNvPr>
          <p:cNvSpPr txBox="1"/>
          <p:nvPr/>
        </p:nvSpPr>
        <p:spPr>
          <a:xfrm>
            <a:off x="10134769" y="7077075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E2886697-6AD6-4FDA-9E51-14A767932366}" type="slidenum">
              <a:rPr lang="ko-KR" altLang="en-US" sz="1200" smtClean="0"/>
              <a:t>4</a:t>
            </a:fld>
            <a:endParaRPr lang="ko-KR" altLang="en-US" sz="1200"/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F3A493AB-4103-FD78-6208-0CEFDC9EA8BB}"/>
              </a:ext>
            </a:extLst>
          </p:cNvPr>
          <p:cNvSpPr/>
          <p:nvPr/>
        </p:nvSpPr>
        <p:spPr>
          <a:xfrm>
            <a:off x="1191501" y="2830212"/>
            <a:ext cx="1874520" cy="2655293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3970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AutoShape 176">
            <a:extLst>
              <a:ext uri="{FF2B5EF4-FFF2-40B4-BE49-F238E27FC236}">
                <a16:creationId xmlns:a16="http://schemas.microsoft.com/office/drawing/2014/main" id="{EBA7DA75-2A9A-3106-9B05-08D625D6F0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013" y="1523467"/>
            <a:ext cx="9091612" cy="558006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lIns="95735" tIns="47870" rIns="95735" bIns="47870"/>
          <a:lstStyle>
            <a:lvl1pPr marL="179388" indent="-179388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536575" indent="-889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marL="0" indent="0" eaLnBrk="1" latinLnBrk="1" hangingPunct="1">
              <a:spcBef>
                <a:spcPts val="600"/>
              </a:spcBef>
              <a:buSzPct val="100000"/>
              <a:defRPr/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주요 연구내용 개요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eaLnBrk="1" latinLnBrk="1" hangingPunct="1">
              <a:spcBef>
                <a:spcPts val="600"/>
              </a:spcBef>
              <a:buSzPct val="100000"/>
              <a:defRPr/>
            </a:pP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4EC18711-484E-4A92-0D13-BB23ADDD63C7}"/>
              </a:ext>
            </a:extLst>
          </p:cNvPr>
          <p:cNvSpPr/>
          <p:nvPr/>
        </p:nvSpPr>
        <p:spPr>
          <a:xfrm>
            <a:off x="2060181" y="2144412"/>
            <a:ext cx="2121408" cy="411480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평가·분석 환경</a:t>
            </a:r>
            <a:endParaRPr lang="en-US" sz="1400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C3E4EB76-9837-8481-7BD8-69F83D2683EC}"/>
              </a:ext>
            </a:extLst>
          </p:cNvPr>
          <p:cNvSpPr/>
          <p:nvPr/>
        </p:nvSpPr>
        <p:spPr>
          <a:xfrm>
            <a:off x="6723621" y="2144412"/>
            <a:ext cx="1874520" cy="411480"/>
          </a:xfrm>
          <a:prstGeom prst="rect">
            <a:avLst/>
          </a:prstGeom>
          <a:solidFill>
            <a:srgbClr val="087783"/>
          </a:solidFill>
          <a:ln w="12700">
            <a:solidFill>
              <a:srgbClr val="08778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 개발</a:t>
            </a:r>
            <a:endParaRPr lang="en-US" sz="1400" dirty="0"/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88B5F527-54DD-D049-C372-C27525B1C7BC}"/>
              </a:ext>
            </a:extLst>
          </p:cNvPr>
          <p:cNvSpPr/>
          <p:nvPr/>
        </p:nvSpPr>
        <p:spPr>
          <a:xfrm>
            <a:off x="5300305" y="3999698"/>
            <a:ext cx="292608" cy="475488"/>
          </a:xfrm>
          <a:prstGeom prst="chevron">
            <a:avLst/>
          </a:prstGeom>
          <a:solidFill>
            <a:srgbClr val="8BA3C7"/>
          </a:solidFill>
          <a:ln w="12700">
            <a:solidFill>
              <a:srgbClr val="8BA3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72AF3215-B177-AEA2-DAD4-EFA9A0879869}"/>
              </a:ext>
            </a:extLst>
          </p:cNvPr>
          <p:cNvSpPr/>
          <p:nvPr/>
        </p:nvSpPr>
        <p:spPr>
          <a:xfrm>
            <a:off x="1191501" y="2610756"/>
            <a:ext cx="3886200" cy="0"/>
          </a:xfrm>
          <a:prstGeom prst="line">
            <a:avLst/>
          </a:prstGeom>
          <a:noFill/>
          <a:ln w="17780">
            <a:solidFill>
              <a:srgbClr val="9FB5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03E423BD-D23B-C920-0B64-1F3E6E926267}"/>
              </a:ext>
            </a:extLst>
          </p:cNvPr>
          <p:cNvSpPr/>
          <p:nvPr/>
        </p:nvSpPr>
        <p:spPr>
          <a:xfrm>
            <a:off x="5690349" y="2610756"/>
            <a:ext cx="3886200" cy="0"/>
          </a:xfrm>
          <a:prstGeom prst="line">
            <a:avLst/>
          </a:prstGeom>
          <a:noFill/>
          <a:ln w="17780">
            <a:solidFill>
              <a:srgbClr val="8CC6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E132FA26-7BEB-D198-1CBA-D1A15E5DBE45}"/>
              </a:ext>
            </a:extLst>
          </p:cNvPr>
          <p:cNvSpPr/>
          <p:nvPr/>
        </p:nvSpPr>
        <p:spPr>
          <a:xfrm>
            <a:off x="1264653" y="2967372"/>
            <a:ext cx="172821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235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</a:t>
            </a:r>
            <a:r>
              <a:rPr lang="ko-KR" altLang="en-US" sz="1220" b="1" dirty="0">
                <a:solidFill>
                  <a:srgbClr val="1235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차선정보 및 목표 경로 시각화 환경 구축</a:t>
            </a:r>
            <a:endParaRPr lang="en-US" sz="1220" dirty="0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48B721AA-346E-614E-A3FC-281355D4D4EF}"/>
              </a:ext>
            </a:extLst>
          </p:cNvPr>
          <p:cNvSpPr/>
          <p:nvPr/>
        </p:nvSpPr>
        <p:spPr>
          <a:xfrm>
            <a:off x="1694421" y="3360564"/>
            <a:ext cx="868680" cy="18288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>
                <a:alpha val="0"/>
              </a:scheme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07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[과</a:t>
            </a:r>
            <a:r>
              <a:rPr lang="ko-KR" altLang="en-US" sz="820" b="1" dirty="0">
                <a:solidFill>
                  <a:srgbClr val="007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</a:t>
            </a:r>
            <a:r>
              <a:rPr lang="en-US" sz="820" b="1" dirty="0">
                <a:solidFill>
                  <a:srgbClr val="007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1]</a:t>
            </a:r>
            <a:endParaRPr lang="en-US" sz="820" dirty="0">
              <a:solidFill>
                <a:srgbClr val="0070C0"/>
              </a:solidFill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70F33530-74D7-1054-071A-B43ABE338DE1}"/>
              </a:ext>
            </a:extLst>
          </p:cNvPr>
          <p:cNvSpPr/>
          <p:nvPr/>
        </p:nvSpPr>
        <p:spPr>
          <a:xfrm>
            <a:off x="1377844" y="3635827"/>
            <a:ext cx="1478984" cy="363871"/>
          </a:xfrm>
          <a:prstGeom prst="rect">
            <a:avLst/>
          </a:prstGeom>
          <a:solidFill>
            <a:srgbClr val="F8FAFC"/>
          </a:solidFill>
          <a:ln w="12700">
            <a:solidFill>
              <a:srgbClr val="B7C2C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altLang="ko-KR" sz="810" b="1" dirty="0" err="1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mobileye</a:t>
            </a:r>
            <a:r>
              <a:rPr lang="en-US" altLang="ko-KR" sz="81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81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차선정보</a:t>
            </a:r>
            <a:r>
              <a:rPr lang="en-US" altLang="ko-KR" sz="81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81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 </a:t>
            </a:r>
            <a:r>
              <a:rPr lang="en-US" altLang="ko-KR" sz="81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 </a:t>
            </a:r>
            <a:r>
              <a:rPr lang="ko-KR" altLang="en-US" sz="81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 리플레이</a:t>
            </a:r>
            <a:endParaRPr lang="en-US" sz="810" dirty="0"/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91A064A1-0BD9-E542-3C02-45A6CE4897AB}"/>
              </a:ext>
            </a:extLst>
          </p:cNvPr>
          <p:cNvSpPr/>
          <p:nvPr/>
        </p:nvSpPr>
        <p:spPr>
          <a:xfrm>
            <a:off x="1377843" y="4065595"/>
            <a:ext cx="1478985" cy="363871"/>
          </a:xfrm>
          <a:prstGeom prst="rect">
            <a:avLst/>
          </a:prstGeom>
          <a:solidFill>
            <a:srgbClr val="F8FAFC"/>
          </a:solidFill>
          <a:ln w="12700">
            <a:solidFill>
              <a:srgbClr val="B7C2C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81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좌표계 및</a:t>
            </a:r>
            <a:endParaRPr lang="en-US" altLang="ko-KR" sz="810" b="1" dirty="0">
              <a:solidFill>
                <a:srgbClr val="1F2A37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r>
              <a:rPr lang="ko-KR" altLang="en-US" sz="81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상대 </a:t>
            </a:r>
            <a:r>
              <a:rPr lang="en-US" altLang="ko-KR" sz="81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pose </a:t>
            </a:r>
            <a:r>
              <a:rPr lang="ko-KR" altLang="en-US" sz="81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변환 정의</a:t>
            </a:r>
            <a:endParaRPr lang="en-US" sz="810" dirty="0"/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5A0F87DD-0792-0295-DCAC-7B2D6FC4EFFC}"/>
              </a:ext>
            </a:extLst>
          </p:cNvPr>
          <p:cNvSpPr/>
          <p:nvPr/>
        </p:nvSpPr>
        <p:spPr>
          <a:xfrm>
            <a:off x="1377843" y="4495363"/>
            <a:ext cx="1478985" cy="363871"/>
          </a:xfrm>
          <a:prstGeom prst="rect">
            <a:avLst/>
          </a:prstGeom>
          <a:solidFill>
            <a:srgbClr val="F8FAFC"/>
          </a:solidFill>
          <a:ln w="12700">
            <a:solidFill>
              <a:srgbClr val="B7C2C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81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보정 결과 기반</a:t>
            </a:r>
            <a:endParaRPr lang="en-US" altLang="ko-KR" sz="810" b="1" dirty="0">
              <a:solidFill>
                <a:srgbClr val="1F2A37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r>
              <a:rPr lang="en-US" altLang="ko-KR" sz="81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 path x-y </a:t>
            </a:r>
            <a:r>
              <a:rPr lang="ko-KR" altLang="en-US" sz="81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재구성</a:t>
            </a:r>
            <a:endParaRPr lang="en-US" altLang="ko-KR" sz="810" dirty="0"/>
          </a:p>
        </p:txBody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7B20438D-C084-414F-22B9-14FCFCAE462B}"/>
              </a:ext>
            </a:extLst>
          </p:cNvPr>
          <p:cNvSpPr/>
          <p:nvPr/>
        </p:nvSpPr>
        <p:spPr>
          <a:xfrm>
            <a:off x="1314945" y="6008558"/>
            <a:ext cx="1581912" cy="512064"/>
          </a:xfrm>
          <a:prstGeom prst="rect">
            <a:avLst/>
          </a:prstGeom>
          <a:solidFill>
            <a:srgbClr val="F8FBFF"/>
          </a:solidFill>
          <a:ln w="12700">
            <a:solidFill>
              <a:srgbClr val="1F65B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800" b="1" dirty="0">
                <a:solidFill>
                  <a:srgbClr val="1235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차선정보 변화에 따른</a:t>
            </a:r>
            <a:endParaRPr lang="en-US" altLang="ko-KR" sz="800" b="1" dirty="0">
              <a:solidFill>
                <a:srgbClr val="12355B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r>
              <a:rPr lang="en-US" altLang="ko-KR" sz="800" b="1" dirty="0">
                <a:solidFill>
                  <a:srgbClr val="1235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 path </a:t>
            </a:r>
            <a:r>
              <a:rPr lang="ko-KR" altLang="en-US" sz="800" b="1" dirty="0">
                <a:solidFill>
                  <a:srgbClr val="1235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형상 변화 확인</a:t>
            </a:r>
            <a:endParaRPr lang="en-US" sz="800" dirty="0"/>
          </a:p>
        </p:txBody>
      </p:sp>
      <p:sp>
        <p:nvSpPr>
          <p:cNvPr id="34" name="화살표: 아래쪽 33">
            <a:extLst>
              <a:ext uri="{FF2B5EF4-FFF2-40B4-BE49-F238E27FC236}">
                <a16:creationId xmlns:a16="http://schemas.microsoft.com/office/drawing/2014/main" id="{CABB9A93-D48D-1226-0F40-3C487001B1A7}"/>
              </a:ext>
            </a:extLst>
          </p:cNvPr>
          <p:cNvSpPr/>
          <p:nvPr/>
        </p:nvSpPr>
        <p:spPr>
          <a:xfrm>
            <a:off x="1869807" y="5730509"/>
            <a:ext cx="495055" cy="183013"/>
          </a:xfrm>
          <a:prstGeom prst="downArrow">
            <a:avLst/>
          </a:prstGeom>
          <a:solidFill>
            <a:srgbClr val="C6D9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Shape 8">
            <a:extLst>
              <a:ext uri="{FF2B5EF4-FFF2-40B4-BE49-F238E27FC236}">
                <a16:creationId xmlns:a16="http://schemas.microsoft.com/office/drawing/2014/main" id="{F00E96E6-B964-EEC9-1A8D-B05BD8188F91}"/>
              </a:ext>
            </a:extLst>
          </p:cNvPr>
          <p:cNvSpPr/>
          <p:nvPr/>
        </p:nvSpPr>
        <p:spPr>
          <a:xfrm>
            <a:off x="3251344" y="2832433"/>
            <a:ext cx="1874520" cy="265307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3970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842017D1-CF92-793D-120B-9C2B2F3D288A}"/>
              </a:ext>
            </a:extLst>
          </p:cNvPr>
          <p:cNvSpPr/>
          <p:nvPr/>
        </p:nvSpPr>
        <p:spPr>
          <a:xfrm>
            <a:off x="3324496" y="2969592"/>
            <a:ext cx="172821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235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</a:t>
            </a:r>
            <a:r>
              <a:rPr lang="ko-KR" altLang="en-US" sz="1220" b="1" dirty="0">
                <a:solidFill>
                  <a:srgbClr val="1235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차선정보 및 목표 경로 평가지표 개발</a:t>
            </a:r>
            <a:endParaRPr lang="en-US" sz="1220" dirty="0"/>
          </a:p>
        </p:txBody>
      </p:sp>
      <p:sp>
        <p:nvSpPr>
          <p:cNvPr id="40" name="Text 10">
            <a:extLst>
              <a:ext uri="{FF2B5EF4-FFF2-40B4-BE49-F238E27FC236}">
                <a16:creationId xmlns:a16="http://schemas.microsoft.com/office/drawing/2014/main" id="{F7900A2F-F914-735B-D1F9-73170F6B3CBA}"/>
              </a:ext>
            </a:extLst>
          </p:cNvPr>
          <p:cNvSpPr/>
          <p:nvPr/>
        </p:nvSpPr>
        <p:spPr>
          <a:xfrm>
            <a:off x="3754264" y="3362784"/>
            <a:ext cx="8686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07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[과</a:t>
            </a:r>
            <a:r>
              <a:rPr lang="ko-KR" altLang="en-US" sz="820" b="1" dirty="0">
                <a:solidFill>
                  <a:srgbClr val="007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</a:t>
            </a:r>
            <a:r>
              <a:rPr lang="en-US" sz="820" b="1" dirty="0">
                <a:solidFill>
                  <a:srgbClr val="007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2]</a:t>
            </a:r>
            <a:endParaRPr lang="en-US" sz="820" dirty="0">
              <a:solidFill>
                <a:srgbClr val="0070C0"/>
              </a:solidFill>
            </a:endParaRPr>
          </a:p>
        </p:txBody>
      </p:sp>
      <p:sp>
        <p:nvSpPr>
          <p:cNvPr id="42" name="Text 12">
            <a:extLst>
              <a:ext uri="{FF2B5EF4-FFF2-40B4-BE49-F238E27FC236}">
                <a16:creationId xmlns:a16="http://schemas.microsoft.com/office/drawing/2014/main" id="{7F0EB885-6574-1B76-6503-F9E57E068BB3}"/>
              </a:ext>
            </a:extLst>
          </p:cNvPr>
          <p:cNvSpPr/>
          <p:nvPr/>
        </p:nvSpPr>
        <p:spPr>
          <a:xfrm>
            <a:off x="3437687" y="3638047"/>
            <a:ext cx="1478984" cy="363871"/>
          </a:xfrm>
          <a:prstGeom prst="rect">
            <a:avLst/>
          </a:prstGeom>
          <a:solidFill>
            <a:srgbClr val="F8FAFC"/>
          </a:solidFill>
          <a:ln w="12700">
            <a:solidFill>
              <a:srgbClr val="B7C2C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81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정상구간 기준경로 </a:t>
            </a:r>
            <a:r>
              <a:rPr lang="ko-KR" altLang="en-US" sz="810" b="1" dirty="0" err="1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일치성</a:t>
            </a:r>
            <a:endParaRPr lang="en-US" sz="810" dirty="0"/>
          </a:p>
        </p:txBody>
      </p:sp>
      <p:sp>
        <p:nvSpPr>
          <p:cNvPr id="44" name="Text 13">
            <a:extLst>
              <a:ext uri="{FF2B5EF4-FFF2-40B4-BE49-F238E27FC236}">
                <a16:creationId xmlns:a16="http://schemas.microsoft.com/office/drawing/2014/main" id="{B1857D5A-3085-D33B-8DA6-BFA6DBA4928E}"/>
              </a:ext>
            </a:extLst>
          </p:cNvPr>
          <p:cNvSpPr/>
          <p:nvPr/>
        </p:nvSpPr>
        <p:spPr>
          <a:xfrm>
            <a:off x="3437686" y="4067815"/>
            <a:ext cx="1478985" cy="363871"/>
          </a:xfrm>
          <a:prstGeom prst="rect">
            <a:avLst/>
          </a:prstGeom>
          <a:solidFill>
            <a:srgbClr val="F8FAFC"/>
          </a:solidFill>
          <a:ln w="12700">
            <a:solidFill>
              <a:srgbClr val="B7C2C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81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비정상구간 경로 연속성</a:t>
            </a:r>
            <a:endParaRPr lang="en-US" sz="810" dirty="0"/>
          </a:p>
        </p:txBody>
      </p:sp>
      <p:sp>
        <p:nvSpPr>
          <p:cNvPr id="46" name="Text 14">
            <a:extLst>
              <a:ext uri="{FF2B5EF4-FFF2-40B4-BE49-F238E27FC236}">
                <a16:creationId xmlns:a16="http://schemas.microsoft.com/office/drawing/2014/main" id="{4E75B2CE-4BB5-7D5D-DB95-64126428C56D}"/>
              </a:ext>
            </a:extLst>
          </p:cNvPr>
          <p:cNvSpPr/>
          <p:nvPr/>
        </p:nvSpPr>
        <p:spPr>
          <a:xfrm>
            <a:off x="3437686" y="4497583"/>
            <a:ext cx="1478985" cy="363871"/>
          </a:xfrm>
          <a:prstGeom prst="rect">
            <a:avLst/>
          </a:prstGeom>
          <a:solidFill>
            <a:srgbClr val="F8FAFC"/>
          </a:solidFill>
          <a:ln w="12700">
            <a:solidFill>
              <a:srgbClr val="B7C2C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81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복귀구간 경로 안정성</a:t>
            </a:r>
            <a:endParaRPr lang="en-US" sz="810" dirty="0"/>
          </a:p>
        </p:txBody>
      </p:sp>
      <p:sp>
        <p:nvSpPr>
          <p:cNvPr id="48" name="Text 17">
            <a:extLst>
              <a:ext uri="{FF2B5EF4-FFF2-40B4-BE49-F238E27FC236}">
                <a16:creationId xmlns:a16="http://schemas.microsoft.com/office/drawing/2014/main" id="{61A3AE64-0B5F-5545-51B3-14D6BDDA2A5F}"/>
              </a:ext>
            </a:extLst>
          </p:cNvPr>
          <p:cNvSpPr/>
          <p:nvPr/>
        </p:nvSpPr>
        <p:spPr>
          <a:xfrm>
            <a:off x="3386061" y="6008576"/>
            <a:ext cx="1581912" cy="512064"/>
          </a:xfrm>
          <a:prstGeom prst="rect">
            <a:avLst/>
          </a:prstGeom>
          <a:solidFill>
            <a:srgbClr val="F8FBFF"/>
          </a:solidFill>
          <a:ln w="12700">
            <a:solidFill>
              <a:srgbClr val="1F65B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altLang="ko-KR" sz="800" b="1" dirty="0">
                <a:solidFill>
                  <a:srgbClr val="1235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GT </a:t>
            </a:r>
            <a:r>
              <a:rPr lang="ko-KR" altLang="en-US" sz="800" b="1" dirty="0">
                <a:solidFill>
                  <a:srgbClr val="1235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없이 </a:t>
            </a:r>
            <a:r>
              <a:rPr lang="en-US" altLang="ko-KR" sz="800" b="1" dirty="0">
                <a:solidFill>
                  <a:srgbClr val="1235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 path </a:t>
            </a:r>
            <a:r>
              <a:rPr lang="ko-KR" altLang="en-US" sz="800" b="1" dirty="0">
                <a:solidFill>
                  <a:srgbClr val="1235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품질을</a:t>
            </a:r>
            <a:endParaRPr lang="en-US" altLang="ko-KR" sz="800" b="1" dirty="0">
              <a:solidFill>
                <a:srgbClr val="12355B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r>
              <a:rPr lang="ko-KR" altLang="en-US" sz="800" b="1" dirty="0">
                <a:solidFill>
                  <a:srgbClr val="1235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기준으로 정량 평가</a:t>
            </a:r>
            <a:endParaRPr lang="en-US" sz="800" dirty="0"/>
          </a:p>
        </p:txBody>
      </p:sp>
      <p:sp>
        <p:nvSpPr>
          <p:cNvPr id="50" name="화살표: 아래쪽 49">
            <a:extLst>
              <a:ext uri="{FF2B5EF4-FFF2-40B4-BE49-F238E27FC236}">
                <a16:creationId xmlns:a16="http://schemas.microsoft.com/office/drawing/2014/main" id="{27A191BB-D706-3F61-C54E-86ABCCDC978F}"/>
              </a:ext>
            </a:extLst>
          </p:cNvPr>
          <p:cNvSpPr/>
          <p:nvPr/>
        </p:nvSpPr>
        <p:spPr>
          <a:xfrm>
            <a:off x="3940923" y="5730527"/>
            <a:ext cx="495055" cy="183013"/>
          </a:xfrm>
          <a:prstGeom prst="downArrow">
            <a:avLst/>
          </a:prstGeom>
          <a:solidFill>
            <a:srgbClr val="C6D9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 14">
            <a:extLst>
              <a:ext uri="{FF2B5EF4-FFF2-40B4-BE49-F238E27FC236}">
                <a16:creationId xmlns:a16="http://schemas.microsoft.com/office/drawing/2014/main" id="{53C2DA0D-5054-A111-52DE-6FF8B1A8F9F7}"/>
              </a:ext>
            </a:extLst>
          </p:cNvPr>
          <p:cNvSpPr/>
          <p:nvPr/>
        </p:nvSpPr>
        <p:spPr>
          <a:xfrm>
            <a:off x="1377841" y="4925131"/>
            <a:ext cx="1478985" cy="363871"/>
          </a:xfrm>
          <a:prstGeom prst="rect">
            <a:avLst/>
          </a:prstGeom>
          <a:solidFill>
            <a:srgbClr val="F8FAFC"/>
          </a:solidFill>
          <a:ln w="12700">
            <a:solidFill>
              <a:srgbClr val="B7C2C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altLang="ko-KR" sz="81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</a:rPr>
              <a:t>raw/</a:t>
            </a:r>
            <a:r>
              <a:rPr lang="ko-KR" altLang="en-US" sz="81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</a:rPr>
              <a:t>보정 결과</a:t>
            </a:r>
            <a:r>
              <a:rPr lang="en-US" altLang="ko-KR" sz="81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</a:rPr>
              <a:t>/planning </a:t>
            </a:r>
            <a:r>
              <a:rPr lang="ko-KR" altLang="en-US" sz="81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</a:rPr>
              <a:t>경로비교 시각화</a:t>
            </a:r>
            <a:endParaRPr lang="en-US" sz="810" b="1" dirty="0">
              <a:solidFill>
                <a:srgbClr val="1F2A37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54" name="Text 14">
            <a:extLst>
              <a:ext uri="{FF2B5EF4-FFF2-40B4-BE49-F238E27FC236}">
                <a16:creationId xmlns:a16="http://schemas.microsoft.com/office/drawing/2014/main" id="{2B88D1DF-4864-B4C8-F862-765C9282BA1B}"/>
              </a:ext>
            </a:extLst>
          </p:cNvPr>
          <p:cNvSpPr/>
          <p:nvPr/>
        </p:nvSpPr>
        <p:spPr>
          <a:xfrm>
            <a:off x="3432762" y="4929025"/>
            <a:ext cx="1478985" cy="363871"/>
          </a:xfrm>
          <a:prstGeom prst="rect">
            <a:avLst/>
          </a:prstGeom>
          <a:solidFill>
            <a:srgbClr val="F8FAFC"/>
          </a:solidFill>
          <a:ln w="12700">
            <a:solidFill>
              <a:srgbClr val="B7C2C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81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곡률</a:t>
            </a:r>
            <a:r>
              <a:rPr lang="en-US" altLang="ko-KR" sz="81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81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곡률변화율 변화량</a:t>
            </a:r>
            <a:endParaRPr lang="en-US" sz="810" dirty="0"/>
          </a:p>
        </p:txBody>
      </p:sp>
      <p:sp>
        <p:nvSpPr>
          <p:cNvPr id="56" name="Shape 8">
            <a:extLst>
              <a:ext uri="{FF2B5EF4-FFF2-40B4-BE49-F238E27FC236}">
                <a16:creationId xmlns:a16="http://schemas.microsoft.com/office/drawing/2014/main" id="{BE303E1B-DD9A-DF9F-11E1-1C1FD166FA39}"/>
              </a:ext>
            </a:extLst>
          </p:cNvPr>
          <p:cNvSpPr/>
          <p:nvPr/>
        </p:nvSpPr>
        <p:spPr>
          <a:xfrm>
            <a:off x="5739217" y="2832414"/>
            <a:ext cx="1874520" cy="3013131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3970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8D5972F4-CC20-2ABA-20EB-EE5125C2B908}"/>
              </a:ext>
            </a:extLst>
          </p:cNvPr>
          <p:cNvSpPr/>
          <p:nvPr/>
        </p:nvSpPr>
        <p:spPr>
          <a:xfrm>
            <a:off x="5812369" y="2969574"/>
            <a:ext cx="172821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235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</a:t>
            </a:r>
            <a:r>
              <a:rPr lang="ko-KR" altLang="en-US" sz="1220" b="1" dirty="0">
                <a:solidFill>
                  <a:srgbClr val="1235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시계열 기반 차선 보정 알고리즘 개발</a:t>
            </a:r>
            <a:endParaRPr lang="en-US" sz="1220" dirty="0"/>
          </a:p>
        </p:txBody>
      </p:sp>
      <p:sp>
        <p:nvSpPr>
          <p:cNvPr id="60" name="Text 10">
            <a:extLst>
              <a:ext uri="{FF2B5EF4-FFF2-40B4-BE49-F238E27FC236}">
                <a16:creationId xmlns:a16="http://schemas.microsoft.com/office/drawing/2014/main" id="{ACB422CD-FDDD-D0D1-F762-5CB978D888D8}"/>
              </a:ext>
            </a:extLst>
          </p:cNvPr>
          <p:cNvSpPr/>
          <p:nvPr/>
        </p:nvSpPr>
        <p:spPr>
          <a:xfrm>
            <a:off x="6242137" y="3362766"/>
            <a:ext cx="8686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877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[과</a:t>
            </a:r>
            <a:r>
              <a:rPr lang="ko-KR" altLang="en-US" sz="820" b="1" dirty="0">
                <a:solidFill>
                  <a:srgbClr val="0877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</a:t>
            </a:r>
            <a:r>
              <a:rPr lang="en-US" sz="820" b="1" dirty="0">
                <a:solidFill>
                  <a:srgbClr val="0877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3]</a:t>
            </a:r>
            <a:endParaRPr lang="en-US" sz="820" dirty="0">
              <a:solidFill>
                <a:srgbClr val="087783"/>
              </a:solidFill>
            </a:endParaRPr>
          </a:p>
        </p:txBody>
      </p:sp>
      <p:sp>
        <p:nvSpPr>
          <p:cNvPr id="62" name="Text 12">
            <a:extLst>
              <a:ext uri="{FF2B5EF4-FFF2-40B4-BE49-F238E27FC236}">
                <a16:creationId xmlns:a16="http://schemas.microsoft.com/office/drawing/2014/main" id="{EC3565F4-D05D-75D5-20C1-A90B3E86999E}"/>
              </a:ext>
            </a:extLst>
          </p:cNvPr>
          <p:cNvSpPr/>
          <p:nvPr/>
        </p:nvSpPr>
        <p:spPr>
          <a:xfrm>
            <a:off x="5925560" y="3638029"/>
            <a:ext cx="1478984" cy="363871"/>
          </a:xfrm>
          <a:prstGeom prst="rect">
            <a:avLst/>
          </a:prstGeom>
          <a:solidFill>
            <a:srgbClr val="F8FAFC"/>
          </a:solidFill>
          <a:ln w="12700">
            <a:solidFill>
              <a:srgbClr val="B7C2C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81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차선정보 기반</a:t>
            </a:r>
            <a:endParaRPr lang="en-US" altLang="ko-KR" sz="810" b="1" dirty="0">
              <a:solidFill>
                <a:srgbClr val="1F2A37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r>
              <a:rPr lang="en-US" altLang="ko-KR" sz="81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lane </a:t>
            </a:r>
            <a:r>
              <a:rPr lang="ko-KR" altLang="en-US" sz="81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예측</a:t>
            </a:r>
            <a:endParaRPr lang="en-US" sz="810" dirty="0"/>
          </a:p>
        </p:txBody>
      </p:sp>
      <p:sp>
        <p:nvSpPr>
          <p:cNvPr id="64" name="Text 13">
            <a:extLst>
              <a:ext uri="{FF2B5EF4-FFF2-40B4-BE49-F238E27FC236}">
                <a16:creationId xmlns:a16="http://schemas.microsoft.com/office/drawing/2014/main" id="{0BC341C5-9EC5-1294-6050-2CADF655318B}"/>
              </a:ext>
            </a:extLst>
          </p:cNvPr>
          <p:cNvSpPr/>
          <p:nvPr/>
        </p:nvSpPr>
        <p:spPr>
          <a:xfrm>
            <a:off x="5925559" y="4067797"/>
            <a:ext cx="1478985" cy="363871"/>
          </a:xfrm>
          <a:prstGeom prst="rect">
            <a:avLst/>
          </a:prstGeom>
          <a:solidFill>
            <a:srgbClr val="F8FAFC"/>
          </a:solidFill>
          <a:ln w="12700">
            <a:solidFill>
              <a:srgbClr val="B7C2C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81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 </a:t>
            </a:r>
            <a:r>
              <a:rPr lang="en-US" altLang="ko-KR" sz="81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 </a:t>
            </a:r>
            <a:r>
              <a:rPr lang="ko-KR" altLang="en-US" sz="81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</a:t>
            </a:r>
            <a:endParaRPr lang="en-US" altLang="ko-KR" sz="810" b="1" dirty="0">
              <a:solidFill>
                <a:srgbClr val="1F2A37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r>
              <a:rPr lang="ko-KR" altLang="en-US" sz="81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좌표계 변환</a:t>
            </a:r>
            <a:endParaRPr lang="en-US" sz="810" dirty="0"/>
          </a:p>
        </p:txBody>
      </p:sp>
      <p:sp>
        <p:nvSpPr>
          <p:cNvPr id="66" name="Text 14">
            <a:extLst>
              <a:ext uri="{FF2B5EF4-FFF2-40B4-BE49-F238E27FC236}">
                <a16:creationId xmlns:a16="http://schemas.microsoft.com/office/drawing/2014/main" id="{80063555-FF46-62E0-16F1-0B58B264EAF0}"/>
              </a:ext>
            </a:extLst>
          </p:cNvPr>
          <p:cNvSpPr/>
          <p:nvPr/>
        </p:nvSpPr>
        <p:spPr>
          <a:xfrm>
            <a:off x="5925559" y="4497565"/>
            <a:ext cx="1478985" cy="363871"/>
          </a:xfrm>
          <a:prstGeom prst="rect">
            <a:avLst/>
          </a:prstGeom>
          <a:solidFill>
            <a:srgbClr val="F8FAFC"/>
          </a:solidFill>
          <a:ln w="12700">
            <a:solidFill>
              <a:srgbClr val="B7C2C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81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차선정보와</a:t>
            </a:r>
            <a:endParaRPr lang="en-US" altLang="ko-KR" sz="810" b="1" dirty="0">
              <a:solidFill>
                <a:srgbClr val="1F2A37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r>
              <a:rPr lang="ko-KR" altLang="en-US" sz="81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차선 정보 융합</a:t>
            </a:r>
            <a:endParaRPr lang="en-US" sz="810" dirty="0"/>
          </a:p>
        </p:txBody>
      </p:sp>
      <p:sp>
        <p:nvSpPr>
          <p:cNvPr id="68" name="Text 17">
            <a:extLst>
              <a:ext uri="{FF2B5EF4-FFF2-40B4-BE49-F238E27FC236}">
                <a16:creationId xmlns:a16="http://schemas.microsoft.com/office/drawing/2014/main" id="{A3B2367B-770C-9968-1F39-9EFC91DC7C20}"/>
              </a:ext>
            </a:extLst>
          </p:cNvPr>
          <p:cNvSpPr/>
          <p:nvPr/>
        </p:nvSpPr>
        <p:spPr>
          <a:xfrm>
            <a:off x="5873934" y="6258611"/>
            <a:ext cx="1581912" cy="512064"/>
          </a:xfrm>
          <a:prstGeom prst="rect">
            <a:avLst/>
          </a:prstGeom>
          <a:solidFill>
            <a:srgbClr val="F8FCFC"/>
          </a:solidFill>
          <a:ln w="12700">
            <a:solidFill>
              <a:srgbClr val="08778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800" b="1" dirty="0">
                <a:solidFill>
                  <a:srgbClr val="1235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한계상황에서도 차선정보의 급격한 변동 완화</a:t>
            </a:r>
            <a:endParaRPr lang="en-US" sz="800" dirty="0"/>
          </a:p>
        </p:txBody>
      </p:sp>
      <p:sp>
        <p:nvSpPr>
          <p:cNvPr id="70" name="화살표: 아래쪽 69">
            <a:extLst>
              <a:ext uri="{FF2B5EF4-FFF2-40B4-BE49-F238E27FC236}">
                <a16:creationId xmlns:a16="http://schemas.microsoft.com/office/drawing/2014/main" id="{5A70A8E7-14CB-8B1C-C664-19AB54C453B5}"/>
              </a:ext>
            </a:extLst>
          </p:cNvPr>
          <p:cNvSpPr/>
          <p:nvPr/>
        </p:nvSpPr>
        <p:spPr>
          <a:xfrm>
            <a:off x="6428796" y="5980562"/>
            <a:ext cx="495055" cy="183013"/>
          </a:xfrm>
          <a:prstGeom prst="downArrow">
            <a:avLst/>
          </a:prstGeom>
          <a:solidFill>
            <a:srgbClr val="C6D9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Text 14">
            <a:extLst>
              <a:ext uri="{FF2B5EF4-FFF2-40B4-BE49-F238E27FC236}">
                <a16:creationId xmlns:a16="http://schemas.microsoft.com/office/drawing/2014/main" id="{18EA229D-DD32-5AA7-B606-A211CF26808E}"/>
              </a:ext>
            </a:extLst>
          </p:cNvPr>
          <p:cNvSpPr/>
          <p:nvPr/>
        </p:nvSpPr>
        <p:spPr>
          <a:xfrm>
            <a:off x="5920635" y="4929007"/>
            <a:ext cx="1478985" cy="363871"/>
          </a:xfrm>
          <a:prstGeom prst="rect">
            <a:avLst/>
          </a:prstGeom>
          <a:solidFill>
            <a:srgbClr val="F8FAFC"/>
          </a:solidFill>
          <a:ln w="12700">
            <a:solidFill>
              <a:srgbClr val="B7C2C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altLang="ko-KR" sz="81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robust refitting </a:t>
            </a:r>
            <a:r>
              <a:rPr lang="ko-KR" altLang="en-US" sz="81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</a:t>
            </a:r>
            <a:endParaRPr lang="en-US" altLang="ko-KR" sz="810" b="1" dirty="0">
              <a:solidFill>
                <a:srgbClr val="1F2A37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r>
              <a:rPr lang="ko-KR" altLang="en-US" sz="81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차선계수 </a:t>
            </a:r>
            <a:r>
              <a:rPr lang="ko-KR" altLang="en-US" sz="810" b="1" dirty="0" err="1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재산출</a:t>
            </a:r>
            <a:endParaRPr lang="en-US" sz="810" dirty="0"/>
          </a:p>
        </p:txBody>
      </p:sp>
      <p:sp>
        <p:nvSpPr>
          <p:cNvPr id="74" name="Shape 8">
            <a:extLst>
              <a:ext uri="{FF2B5EF4-FFF2-40B4-BE49-F238E27FC236}">
                <a16:creationId xmlns:a16="http://schemas.microsoft.com/office/drawing/2014/main" id="{8D6FDA49-E822-4930-7153-16C6BDB9AB1F}"/>
              </a:ext>
            </a:extLst>
          </p:cNvPr>
          <p:cNvSpPr/>
          <p:nvPr/>
        </p:nvSpPr>
        <p:spPr>
          <a:xfrm>
            <a:off x="7827197" y="2837320"/>
            <a:ext cx="1874520" cy="3008223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3970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 9">
            <a:extLst>
              <a:ext uri="{FF2B5EF4-FFF2-40B4-BE49-F238E27FC236}">
                <a16:creationId xmlns:a16="http://schemas.microsoft.com/office/drawing/2014/main" id="{28D6E0AD-A5D2-DB07-2A56-C49DD007FAFB}"/>
              </a:ext>
            </a:extLst>
          </p:cNvPr>
          <p:cNvSpPr/>
          <p:nvPr/>
        </p:nvSpPr>
        <p:spPr>
          <a:xfrm>
            <a:off x="7900349" y="2974480"/>
            <a:ext cx="172821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235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</a:t>
            </a:r>
            <a:r>
              <a:rPr lang="ko-KR" altLang="en-US" sz="1220" b="1" dirty="0">
                <a:solidFill>
                  <a:srgbClr val="1235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상용차 기준 목표 경로</a:t>
            </a:r>
            <a:r>
              <a:rPr lang="en-US" altLang="ko-KR" sz="1220" b="1" dirty="0">
                <a:solidFill>
                  <a:srgbClr val="1235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20" b="1" dirty="0">
                <a:solidFill>
                  <a:srgbClr val="1235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알고리즘 개발</a:t>
            </a:r>
            <a:endParaRPr lang="en-US" sz="1220" dirty="0"/>
          </a:p>
        </p:txBody>
      </p:sp>
      <p:sp>
        <p:nvSpPr>
          <p:cNvPr id="78" name="Text 10">
            <a:extLst>
              <a:ext uri="{FF2B5EF4-FFF2-40B4-BE49-F238E27FC236}">
                <a16:creationId xmlns:a16="http://schemas.microsoft.com/office/drawing/2014/main" id="{50D25F76-71CA-7285-F61D-81C0BB55802E}"/>
              </a:ext>
            </a:extLst>
          </p:cNvPr>
          <p:cNvSpPr/>
          <p:nvPr/>
        </p:nvSpPr>
        <p:spPr>
          <a:xfrm>
            <a:off x="8330117" y="3367672"/>
            <a:ext cx="8686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877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[과</a:t>
            </a:r>
            <a:r>
              <a:rPr lang="ko-KR" altLang="en-US" sz="820" b="1" dirty="0">
                <a:solidFill>
                  <a:srgbClr val="0877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</a:t>
            </a:r>
            <a:r>
              <a:rPr lang="en-US" sz="820" b="1" dirty="0">
                <a:solidFill>
                  <a:srgbClr val="0877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4]</a:t>
            </a:r>
            <a:endParaRPr lang="en-US" sz="820" dirty="0">
              <a:solidFill>
                <a:srgbClr val="087783"/>
              </a:solidFill>
            </a:endParaRPr>
          </a:p>
        </p:txBody>
      </p:sp>
      <p:sp>
        <p:nvSpPr>
          <p:cNvPr id="80" name="Text 12">
            <a:extLst>
              <a:ext uri="{FF2B5EF4-FFF2-40B4-BE49-F238E27FC236}">
                <a16:creationId xmlns:a16="http://schemas.microsoft.com/office/drawing/2014/main" id="{8B0D7C3F-BC76-5567-C641-D42EDEFF62D2}"/>
              </a:ext>
            </a:extLst>
          </p:cNvPr>
          <p:cNvSpPr/>
          <p:nvPr/>
        </p:nvSpPr>
        <p:spPr>
          <a:xfrm>
            <a:off x="8013540" y="3642935"/>
            <a:ext cx="1478984" cy="363871"/>
          </a:xfrm>
          <a:prstGeom prst="rect">
            <a:avLst/>
          </a:prstGeom>
          <a:solidFill>
            <a:srgbClr val="F8FAFC"/>
          </a:solidFill>
          <a:ln w="12700">
            <a:solidFill>
              <a:srgbClr val="B7C2C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81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차선정보 </a:t>
            </a:r>
            <a:r>
              <a:rPr lang="en-US" altLang="ko-KR" sz="81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compensation</a:t>
            </a:r>
          </a:p>
          <a:p>
            <a:pPr marL="0" indent="0" algn="ctr">
              <a:buNone/>
            </a:pPr>
            <a:r>
              <a:rPr lang="ko-KR" altLang="en-US" sz="81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활용</a:t>
            </a:r>
            <a:endParaRPr lang="en-US" sz="810" dirty="0"/>
          </a:p>
        </p:txBody>
      </p:sp>
      <p:sp>
        <p:nvSpPr>
          <p:cNvPr id="82" name="Text 13">
            <a:extLst>
              <a:ext uri="{FF2B5EF4-FFF2-40B4-BE49-F238E27FC236}">
                <a16:creationId xmlns:a16="http://schemas.microsoft.com/office/drawing/2014/main" id="{E53AD807-2192-C825-DDA6-7E6D3CB2F581}"/>
              </a:ext>
            </a:extLst>
          </p:cNvPr>
          <p:cNvSpPr/>
          <p:nvPr/>
        </p:nvSpPr>
        <p:spPr>
          <a:xfrm>
            <a:off x="8013539" y="4072703"/>
            <a:ext cx="1478985" cy="363871"/>
          </a:xfrm>
          <a:prstGeom prst="rect">
            <a:avLst/>
          </a:prstGeom>
          <a:solidFill>
            <a:srgbClr val="F8FAFC"/>
          </a:solidFill>
          <a:ln w="12700">
            <a:solidFill>
              <a:srgbClr val="B7C2C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81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상용차 </a:t>
            </a:r>
            <a:r>
              <a:rPr lang="ko-KR" altLang="en-US" sz="810" b="1" dirty="0" err="1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조향</a:t>
            </a:r>
            <a:r>
              <a:rPr lang="ko-KR" altLang="en-US" sz="81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응답 특성 반영</a:t>
            </a:r>
            <a:endParaRPr lang="en-US" sz="810" dirty="0"/>
          </a:p>
        </p:txBody>
      </p:sp>
      <p:sp>
        <p:nvSpPr>
          <p:cNvPr id="84" name="Text 14">
            <a:extLst>
              <a:ext uri="{FF2B5EF4-FFF2-40B4-BE49-F238E27FC236}">
                <a16:creationId xmlns:a16="http://schemas.microsoft.com/office/drawing/2014/main" id="{D7F64167-53FC-FE64-3744-53C15870895F}"/>
              </a:ext>
            </a:extLst>
          </p:cNvPr>
          <p:cNvSpPr/>
          <p:nvPr/>
        </p:nvSpPr>
        <p:spPr>
          <a:xfrm>
            <a:off x="8013539" y="4502471"/>
            <a:ext cx="1478985" cy="363871"/>
          </a:xfrm>
          <a:prstGeom prst="rect">
            <a:avLst/>
          </a:prstGeom>
          <a:solidFill>
            <a:srgbClr val="F8FAFC"/>
          </a:solidFill>
          <a:ln w="12700">
            <a:solidFill>
              <a:srgbClr val="B7C2C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81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 응답 상태 기반</a:t>
            </a:r>
            <a:endParaRPr lang="en-US" altLang="ko-KR" sz="810" b="1" dirty="0">
              <a:solidFill>
                <a:srgbClr val="1F2A37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r>
              <a:rPr lang="ko-KR" altLang="en-US" sz="81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 형상 보정</a:t>
            </a:r>
            <a:endParaRPr lang="en-US" sz="810" dirty="0"/>
          </a:p>
        </p:txBody>
      </p:sp>
      <p:sp>
        <p:nvSpPr>
          <p:cNvPr id="86" name="Text 17">
            <a:extLst>
              <a:ext uri="{FF2B5EF4-FFF2-40B4-BE49-F238E27FC236}">
                <a16:creationId xmlns:a16="http://schemas.microsoft.com/office/drawing/2014/main" id="{76B3207E-6F0B-F5F5-46ED-93DB153FD4C6}"/>
              </a:ext>
            </a:extLst>
          </p:cNvPr>
          <p:cNvSpPr/>
          <p:nvPr/>
        </p:nvSpPr>
        <p:spPr>
          <a:xfrm>
            <a:off x="7961914" y="6263517"/>
            <a:ext cx="1581912" cy="512064"/>
          </a:xfrm>
          <a:prstGeom prst="rect">
            <a:avLst/>
          </a:prstGeom>
          <a:solidFill>
            <a:srgbClr val="F8FCFC"/>
          </a:solidFill>
          <a:ln w="12700">
            <a:solidFill>
              <a:srgbClr val="08778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800" b="1" dirty="0">
                <a:solidFill>
                  <a:srgbClr val="1235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상용차 </a:t>
            </a:r>
            <a:r>
              <a:rPr lang="ko-KR" altLang="en-US" sz="800" b="1" dirty="0" err="1">
                <a:solidFill>
                  <a:srgbClr val="1235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조향</a:t>
            </a:r>
            <a:r>
              <a:rPr lang="ko-KR" altLang="en-US" sz="800" b="1" dirty="0">
                <a:solidFill>
                  <a:srgbClr val="1235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특성을 고려한</a:t>
            </a:r>
            <a:endParaRPr lang="en-US" altLang="ko-KR" sz="800" b="1" dirty="0">
              <a:solidFill>
                <a:srgbClr val="12355B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r>
              <a:rPr lang="ko-KR" altLang="en-US" sz="800" b="1" dirty="0">
                <a:solidFill>
                  <a:srgbClr val="1235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경로</a:t>
            </a:r>
            <a:r>
              <a:rPr lang="en-US" altLang="ko-KR" sz="800" b="1" dirty="0">
                <a:solidFill>
                  <a:srgbClr val="1235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800" b="1" dirty="0">
                <a:solidFill>
                  <a:srgbClr val="1235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</a:t>
            </a:r>
            <a:endParaRPr lang="en-US" sz="800" dirty="0"/>
          </a:p>
        </p:txBody>
      </p:sp>
      <p:sp>
        <p:nvSpPr>
          <p:cNvPr id="88" name="화살표: 아래쪽 87">
            <a:extLst>
              <a:ext uri="{FF2B5EF4-FFF2-40B4-BE49-F238E27FC236}">
                <a16:creationId xmlns:a16="http://schemas.microsoft.com/office/drawing/2014/main" id="{80D30F73-4DDA-D0AA-8D17-2A935577F8DE}"/>
              </a:ext>
            </a:extLst>
          </p:cNvPr>
          <p:cNvSpPr/>
          <p:nvPr/>
        </p:nvSpPr>
        <p:spPr>
          <a:xfrm>
            <a:off x="8516776" y="5985468"/>
            <a:ext cx="495055" cy="183013"/>
          </a:xfrm>
          <a:prstGeom prst="downArrow">
            <a:avLst/>
          </a:prstGeom>
          <a:solidFill>
            <a:srgbClr val="C6D9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 14">
            <a:extLst>
              <a:ext uri="{FF2B5EF4-FFF2-40B4-BE49-F238E27FC236}">
                <a16:creationId xmlns:a16="http://schemas.microsoft.com/office/drawing/2014/main" id="{4F58E4F9-3B1D-DF47-E857-CE047E31D1DD}"/>
              </a:ext>
            </a:extLst>
          </p:cNvPr>
          <p:cNvSpPr/>
          <p:nvPr/>
        </p:nvSpPr>
        <p:spPr>
          <a:xfrm>
            <a:off x="8008615" y="4933913"/>
            <a:ext cx="1478985" cy="363871"/>
          </a:xfrm>
          <a:prstGeom prst="rect">
            <a:avLst/>
          </a:prstGeom>
          <a:solidFill>
            <a:srgbClr val="F8FAFC"/>
          </a:solidFill>
          <a:ln w="12700">
            <a:solidFill>
              <a:srgbClr val="B7C2C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ko-KR" altLang="en-US" sz="81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곡률</a:t>
            </a:r>
            <a:r>
              <a:rPr lang="en-US" altLang="ko-KR" sz="81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81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곡률변화율 제약 반영</a:t>
            </a:r>
            <a:endParaRPr lang="en-US" altLang="ko-KR" sz="810" dirty="0"/>
          </a:p>
        </p:txBody>
      </p:sp>
      <p:sp>
        <p:nvSpPr>
          <p:cNvPr id="92" name="Text 14">
            <a:extLst>
              <a:ext uri="{FF2B5EF4-FFF2-40B4-BE49-F238E27FC236}">
                <a16:creationId xmlns:a16="http://schemas.microsoft.com/office/drawing/2014/main" id="{CA01CB5C-E61C-8050-1C75-42B3E58F4B15}"/>
              </a:ext>
            </a:extLst>
          </p:cNvPr>
          <p:cNvSpPr/>
          <p:nvPr/>
        </p:nvSpPr>
        <p:spPr>
          <a:xfrm>
            <a:off x="5920634" y="5366638"/>
            <a:ext cx="1478985" cy="363871"/>
          </a:xfrm>
          <a:prstGeom prst="rect">
            <a:avLst/>
          </a:prstGeom>
          <a:solidFill>
            <a:srgbClr val="F8FAFC"/>
          </a:solidFill>
          <a:ln w="12700">
            <a:solidFill>
              <a:srgbClr val="B7C2C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81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우천 등 한계상황별 </a:t>
            </a:r>
            <a:r>
              <a:rPr lang="en-US" altLang="ko-KR" sz="81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compensation </a:t>
            </a:r>
            <a:r>
              <a:rPr lang="ko-KR" altLang="en-US" sz="81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비교</a:t>
            </a:r>
            <a:endParaRPr lang="en-US" sz="810" dirty="0"/>
          </a:p>
        </p:txBody>
      </p:sp>
      <p:sp>
        <p:nvSpPr>
          <p:cNvPr id="94" name="Text 14">
            <a:extLst>
              <a:ext uri="{FF2B5EF4-FFF2-40B4-BE49-F238E27FC236}">
                <a16:creationId xmlns:a16="http://schemas.microsoft.com/office/drawing/2014/main" id="{D2E6F6EE-471B-6F58-0564-C18321BBC45C}"/>
              </a:ext>
            </a:extLst>
          </p:cNvPr>
          <p:cNvSpPr/>
          <p:nvPr/>
        </p:nvSpPr>
        <p:spPr>
          <a:xfrm>
            <a:off x="8008615" y="5367010"/>
            <a:ext cx="1478985" cy="363871"/>
          </a:xfrm>
          <a:prstGeom prst="rect">
            <a:avLst/>
          </a:prstGeom>
          <a:solidFill>
            <a:srgbClr val="F8FAFC"/>
          </a:solidFill>
          <a:ln w="12700">
            <a:solidFill>
              <a:srgbClr val="B7C2C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ko-KR" altLang="en-US" sz="81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편향</a:t>
            </a:r>
            <a:r>
              <a:rPr lang="en-US" altLang="ko-KR" sz="81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810" b="1" dirty="0" err="1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차로변경</a:t>
            </a:r>
            <a:r>
              <a:rPr lang="en-US" altLang="ko-KR" sz="81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ko-KR" altLang="en-US" sz="81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</a:t>
            </a:r>
            <a:endParaRPr lang="en-US" altLang="ko-KR" sz="810" b="1" dirty="0">
              <a:solidFill>
                <a:srgbClr val="1F2A37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algn="ctr"/>
            <a:r>
              <a:rPr lang="ko-KR" altLang="en-US" sz="81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대응</a:t>
            </a:r>
            <a:endParaRPr lang="en-US" altLang="ko-KR" sz="810" dirty="0"/>
          </a:p>
        </p:txBody>
      </p:sp>
    </p:spTree>
    <p:extLst>
      <p:ext uri="{BB962C8B-B14F-4D97-AF65-F5344CB8AC3E}">
        <p14:creationId xmlns:p14="http://schemas.microsoft.com/office/powerpoint/2010/main" val="3870945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522D5-D2D0-0778-3723-D840A4079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58A4858-D833-597E-9219-32948D488B8E}"/>
              </a:ext>
            </a:extLst>
          </p:cNvPr>
          <p:cNvSpPr txBox="1"/>
          <p:nvPr/>
        </p:nvSpPr>
        <p:spPr>
          <a:xfrm>
            <a:off x="1304364" y="599583"/>
            <a:ext cx="78396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연구내용 및 평가방법 </a:t>
            </a:r>
            <a:endParaRPr lang="ko-KR" altLang="en-US" sz="2800" i="1" dirty="0">
              <a:solidFill>
                <a:srgbClr val="FF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CF3A3B6-02A9-0955-2EC2-C395474DE344}"/>
              </a:ext>
            </a:extLst>
          </p:cNvPr>
          <p:cNvSpPr txBox="1"/>
          <p:nvPr/>
        </p:nvSpPr>
        <p:spPr>
          <a:xfrm>
            <a:off x="10134769" y="7077075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E2886697-6AD6-4FDA-9E51-14A767932366}" type="slidenum">
              <a:rPr lang="ko-KR" altLang="en-US" sz="1200" smtClean="0"/>
              <a:t>5</a:t>
            </a:fld>
            <a:endParaRPr lang="ko-KR" altLang="en-US" sz="1200"/>
          </a:p>
        </p:txBody>
      </p:sp>
      <p:sp>
        <p:nvSpPr>
          <p:cNvPr id="4" name="AutoShape 176">
            <a:extLst>
              <a:ext uri="{FF2B5EF4-FFF2-40B4-BE49-F238E27FC236}">
                <a16:creationId xmlns:a16="http://schemas.microsoft.com/office/drawing/2014/main" id="{D2C2FF19-95E5-7A5F-134C-8E232DC540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651" y="1447132"/>
            <a:ext cx="9001062" cy="1619817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lIns="95735" tIns="47870" rIns="95735" bIns="47870"/>
          <a:lstStyle>
            <a:lvl1pPr marL="179388" indent="-179388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536575" indent="-889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marL="0" indent="0" eaLnBrk="1" hangingPunct="1">
              <a:spcBef>
                <a:spcPts val="600"/>
              </a:spcBef>
              <a:buSzPct val="100000"/>
              <a:defRPr/>
            </a:pP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차선정보 및 목표 경로 시각화 환경 구축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36575" indent="-268288" eaLnBrk="1" hangingPunct="1">
              <a:spcBef>
                <a:spcPts val="600"/>
              </a:spcBef>
              <a:buClr>
                <a:schemeClr val="tx1"/>
              </a:buClr>
              <a:buSzPct val="100000"/>
              <a:buFont typeface="HY헤드라인M" panose="02030600000101010101" pitchFamily="18" charset="-127"/>
              <a:buAutoNum type="arabicParenR"/>
              <a:defRPr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차량 상태정보를 활용한 차선정보 좌표 변환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14363" indent="-171450" eaLnBrk="1" latinLnBrk="1" hangingPunct="1">
              <a:spcBef>
                <a:spcPts val="600"/>
              </a:spcBef>
              <a:buClr>
                <a:schemeClr val="tx1"/>
              </a:buClr>
              <a:buSzPct val="100000"/>
              <a:buFontTx/>
              <a:buChar char="-"/>
              <a:defRPr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특정 시점에서 생성된 차선정보 및 목표 경로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정보를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timestamp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와 함께 저장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14363" indent="-171450" eaLnBrk="1" latinLnBrk="1" hangingPunct="1">
              <a:spcBef>
                <a:spcPts val="600"/>
              </a:spcBef>
              <a:buClr>
                <a:schemeClr val="tx1"/>
              </a:buClr>
              <a:buSzPct val="100000"/>
              <a:buFontTx/>
              <a:buChar char="-"/>
              <a:defRPr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차량 상태정보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history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이용하여 과거 시점부터 현 시점까지의 차량 상대운동을 산출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14363" indent="-171450" eaLnBrk="1" latinLnBrk="1" hangingPunct="1">
              <a:spcBef>
                <a:spcPts val="600"/>
              </a:spcBef>
              <a:buClr>
                <a:schemeClr val="tx1"/>
              </a:buClr>
              <a:buSzPct val="100000"/>
              <a:buFontTx/>
              <a:buChar char="-"/>
              <a:defRPr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산출된 상대운동을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2D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동차변환으로 표현하여 차선정보 및 목표 경로를 현 시점 </a:t>
            </a: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차량좌표계로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정렬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36575" indent="-268288" eaLnBrk="1" hangingPunct="1">
              <a:spcBef>
                <a:spcPts val="600"/>
              </a:spcBef>
              <a:buClr>
                <a:schemeClr val="tx1"/>
              </a:buClr>
              <a:buSzPct val="100000"/>
              <a:buFont typeface="HY헤드라인M" panose="02030600000101010101" pitchFamily="18" charset="-127"/>
              <a:buAutoNum type="arabicParenR"/>
              <a:defRPr/>
            </a:pP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D4100F6-15C3-4D38-BE28-458AC8616C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451" y="2969868"/>
            <a:ext cx="3286937" cy="410720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A74EE3E-FCC7-009A-5EDD-BF03CB10B3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385" b="12846"/>
          <a:stretch>
            <a:fillRect/>
          </a:stretch>
        </p:blipFill>
        <p:spPr>
          <a:xfrm>
            <a:off x="3830952" y="3391279"/>
            <a:ext cx="6303817" cy="2863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937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AB891-502B-5A95-7D96-CC78B8718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D421F39-D18B-63DC-A5D7-39F2A6D130DF}"/>
              </a:ext>
            </a:extLst>
          </p:cNvPr>
          <p:cNvSpPr txBox="1"/>
          <p:nvPr/>
        </p:nvSpPr>
        <p:spPr>
          <a:xfrm>
            <a:off x="1304364" y="599583"/>
            <a:ext cx="78396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연구내용 및 평가방법 </a:t>
            </a:r>
            <a:endParaRPr lang="ko-KR" altLang="en-US" sz="2800" i="1" dirty="0">
              <a:solidFill>
                <a:srgbClr val="FF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8E7B0CC-0C81-11A1-9EE6-EB743CFE84BC}"/>
              </a:ext>
            </a:extLst>
          </p:cNvPr>
          <p:cNvSpPr txBox="1"/>
          <p:nvPr/>
        </p:nvSpPr>
        <p:spPr>
          <a:xfrm>
            <a:off x="10134769" y="7077075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E2886697-6AD6-4FDA-9E51-14A767932366}" type="slidenum">
              <a:rPr lang="ko-KR" altLang="en-US" sz="1200" smtClean="0"/>
              <a:t>6</a:t>
            </a:fld>
            <a:endParaRPr lang="ko-KR" altLang="en-US" sz="1200"/>
          </a:p>
        </p:txBody>
      </p:sp>
      <p:sp>
        <p:nvSpPr>
          <p:cNvPr id="4" name="AutoShape 176">
            <a:extLst>
              <a:ext uri="{FF2B5EF4-FFF2-40B4-BE49-F238E27FC236}">
                <a16:creationId xmlns:a16="http://schemas.microsoft.com/office/drawing/2014/main" id="{A5809A6B-85B3-C1F8-C52D-8B0482FF62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651" y="1438647"/>
            <a:ext cx="9001062" cy="558006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lIns="95735" tIns="47870" rIns="95735" bIns="47870"/>
          <a:lstStyle>
            <a:lvl1pPr marL="179388" indent="-179388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536575" indent="-889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marL="0" indent="0" eaLnBrk="1" hangingPunct="1">
              <a:spcBef>
                <a:spcPts val="600"/>
              </a:spcBef>
              <a:buSzPct val="100000"/>
              <a:defRPr/>
            </a:pP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차선정보 및 목표 경로 시각화 환경 구축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11187" indent="-342900" eaLnBrk="1" hangingPunct="1">
              <a:spcBef>
                <a:spcPts val="600"/>
              </a:spcBef>
              <a:buClr>
                <a:schemeClr val="tx1"/>
              </a:buClr>
              <a:buSzPct val="100000"/>
              <a:buFont typeface="+mj-lt"/>
              <a:buAutoNum type="arabicParenR" startAt="2"/>
              <a:defRPr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주행 로그 기반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Path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정렬 결과 시각화 환경 구축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14363" indent="-171450" eaLnBrk="1" latinLnBrk="1" hangingPunct="1">
              <a:spcBef>
                <a:spcPts val="600"/>
              </a:spcBef>
              <a:buClr>
                <a:schemeClr val="tx1"/>
              </a:buClr>
              <a:buSzPct val="100000"/>
              <a:buFontTx/>
              <a:buChar char="-"/>
              <a:defRPr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현 시점 </a:t>
            </a: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차량좌표계로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정렬된 차선정보 및 목표 경로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history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통해 시점별 경로 변화 시각화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14363" indent="-171450" eaLnBrk="1" latinLnBrk="1" hangingPunct="1">
              <a:spcBef>
                <a:spcPts val="600"/>
              </a:spcBef>
              <a:buClr>
                <a:schemeClr val="tx1"/>
              </a:buClr>
              <a:buSzPct val="100000"/>
              <a:buFontTx/>
              <a:buChar char="-"/>
              <a:defRPr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강우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차선 분기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차선 형상 급변 등 다양한 주행 시나리오별 평가 환경 구축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14363" indent="-171450" eaLnBrk="1" latinLnBrk="1" hangingPunct="1">
              <a:spcBef>
                <a:spcPts val="600"/>
              </a:spcBef>
              <a:buClr>
                <a:schemeClr val="tx1"/>
              </a:buClr>
              <a:buSzPct val="100000"/>
              <a:buFontTx/>
              <a:buChar char="-"/>
              <a:defRPr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정합성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연속성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곡률 변화 등 평가지표 항목을 그래프 형태로 시각화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11187" indent="-342900" eaLnBrk="1" hangingPunct="1">
              <a:spcBef>
                <a:spcPts val="600"/>
              </a:spcBef>
              <a:buClr>
                <a:schemeClr val="tx1"/>
              </a:buClr>
              <a:buSzPct val="100000"/>
              <a:buFont typeface="+mj-lt"/>
              <a:buAutoNum type="arabicParenR" startAt="2"/>
              <a:defRPr/>
            </a:pP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9A605F16-5E66-4F14-C549-2B3C4B02B292}"/>
              </a:ext>
            </a:extLst>
          </p:cNvPr>
          <p:cNvSpPr/>
          <p:nvPr/>
        </p:nvSpPr>
        <p:spPr>
          <a:xfrm>
            <a:off x="1070463" y="3376495"/>
            <a:ext cx="2880320" cy="342038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3970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827209EF-B176-F7F5-C9BD-3B625C75E6BE}"/>
              </a:ext>
            </a:extLst>
          </p:cNvPr>
          <p:cNvSpPr/>
          <p:nvPr/>
        </p:nvSpPr>
        <p:spPr>
          <a:xfrm>
            <a:off x="1161178" y="3513654"/>
            <a:ext cx="2655514" cy="44759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122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0753791C-4BF8-5012-CC74-4E1401BFFC9A}"/>
              </a:ext>
            </a:extLst>
          </p:cNvPr>
          <p:cNvSpPr/>
          <p:nvPr/>
        </p:nvSpPr>
        <p:spPr>
          <a:xfrm>
            <a:off x="4005130" y="3376495"/>
            <a:ext cx="2880320" cy="342038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3970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BFB6884D-33E0-3C94-2FD4-AE7D208FAFBD}"/>
              </a:ext>
            </a:extLst>
          </p:cNvPr>
          <p:cNvSpPr/>
          <p:nvPr/>
        </p:nvSpPr>
        <p:spPr>
          <a:xfrm>
            <a:off x="4103360" y="3449298"/>
            <a:ext cx="2655514" cy="44759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220" b="1" dirty="0">
                <a:solidFill>
                  <a:srgbClr val="1235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주행 시나리오별 평가 환경</a:t>
            </a:r>
            <a:endParaRPr lang="en-US" sz="1220" dirty="0"/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58E2437D-0CDB-FE60-55D7-75286EB99074}"/>
              </a:ext>
            </a:extLst>
          </p:cNvPr>
          <p:cNvSpPr/>
          <p:nvPr/>
        </p:nvSpPr>
        <p:spPr>
          <a:xfrm>
            <a:off x="6939798" y="3376495"/>
            <a:ext cx="2880320" cy="342038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3970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18C0C70E-F733-DB54-8E98-CCF81BFB22D1}"/>
              </a:ext>
            </a:extLst>
          </p:cNvPr>
          <p:cNvSpPr/>
          <p:nvPr/>
        </p:nvSpPr>
        <p:spPr>
          <a:xfrm>
            <a:off x="7034350" y="3446122"/>
            <a:ext cx="2655514" cy="44759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220" b="1" dirty="0">
                <a:solidFill>
                  <a:srgbClr val="1235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평가지표 그래프 시각화</a:t>
            </a:r>
            <a:endParaRPr lang="en-US" sz="1220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BFA010C7-38B4-EB23-37B9-4F12B54285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8579" t="40812" r="3585" b="8657"/>
          <a:stretch/>
        </p:blipFill>
        <p:spPr>
          <a:xfrm>
            <a:off x="7292536" y="3759609"/>
            <a:ext cx="2139141" cy="29124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275945AC-276C-1B6F-D1AA-2C8A7A83AD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6874" y="3863524"/>
            <a:ext cx="2808485" cy="2808485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05256D1F-1785-7B4B-7A29-A9A506F7B2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087" y="3996364"/>
            <a:ext cx="2633741" cy="2438890"/>
          </a:xfrm>
          <a:prstGeom prst="rect">
            <a:avLst/>
          </a:prstGeom>
        </p:spPr>
      </p:pic>
      <p:sp>
        <p:nvSpPr>
          <p:cNvPr id="25" name="Text 9">
            <a:extLst>
              <a:ext uri="{FF2B5EF4-FFF2-40B4-BE49-F238E27FC236}">
                <a16:creationId xmlns:a16="http://schemas.microsoft.com/office/drawing/2014/main" id="{F10B0426-F346-AA7F-AD49-D8640B529F76}"/>
              </a:ext>
            </a:extLst>
          </p:cNvPr>
          <p:cNvSpPr/>
          <p:nvPr/>
        </p:nvSpPr>
        <p:spPr>
          <a:xfrm>
            <a:off x="1173247" y="3478535"/>
            <a:ext cx="2655514" cy="44759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220" b="1" dirty="0">
                <a:solidFill>
                  <a:srgbClr val="12355B"/>
                </a:solidFill>
                <a:latin typeface="Malgun Gothic" pitchFamily="34" charset="0"/>
                <a:ea typeface="Malgun Gothic" pitchFamily="34" charset="-122"/>
              </a:rPr>
              <a:t>차선정보 및 목표 경로</a:t>
            </a:r>
            <a:r>
              <a:rPr lang="en-US" altLang="ko-KR" sz="1220" b="1" dirty="0">
                <a:solidFill>
                  <a:srgbClr val="12355B"/>
                </a:solidFill>
                <a:latin typeface="Malgun Gothic" pitchFamily="34" charset="0"/>
                <a:ea typeface="Malgun Gothic" pitchFamily="34" charset="-122"/>
              </a:rPr>
              <a:t> History </a:t>
            </a:r>
            <a:r>
              <a:rPr lang="ko-KR" altLang="en-US" sz="1220" b="1" dirty="0">
                <a:solidFill>
                  <a:srgbClr val="12355B"/>
                </a:solidFill>
                <a:latin typeface="Malgun Gothic" pitchFamily="34" charset="0"/>
                <a:ea typeface="Malgun Gothic" pitchFamily="34" charset="-122"/>
              </a:rPr>
              <a:t>시각화</a:t>
            </a:r>
            <a:endParaRPr lang="en-US" sz="1220" dirty="0"/>
          </a:p>
        </p:txBody>
      </p:sp>
    </p:spTree>
    <p:extLst>
      <p:ext uri="{BB962C8B-B14F-4D97-AF65-F5344CB8AC3E}">
        <p14:creationId xmlns:p14="http://schemas.microsoft.com/office/powerpoint/2010/main" val="1097064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01ACE-7214-BE2E-7A67-6BF19D5E9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2D674C6-81E1-6EFC-CB7A-46562C21EB06}"/>
              </a:ext>
            </a:extLst>
          </p:cNvPr>
          <p:cNvSpPr txBox="1"/>
          <p:nvPr/>
        </p:nvSpPr>
        <p:spPr>
          <a:xfrm>
            <a:off x="1304364" y="599583"/>
            <a:ext cx="78396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연구내용 및 평가방법 </a:t>
            </a:r>
            <a:endParaRPr lang="ko-KR" altLang="en-US" sz="2800" i="1" dirty="0">
              <a:solidFill>
                <a:srgbClr val="FF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AAA661F-8765-D152-8CA8-52DCF2DB7636}"/>
              </a:ext>
            </a:extLst>
          </p:cNvPr>
          <p:cNvSpPr txBox="1"/>
          <p:nvPr/>
        </p:nvSpPr>
        <p:spPr>
          <a:xfrm>
            <a:off x="10134769" y="7077075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E2886697-6AD6-4FDA-9E51-14A767932366}" type="slidenum">
              <a:rPr lang="ko-KR" altLang="en-US" sz="1200" smtClean="0"/>
              <a:t>7</a:t>
            </a:fld>
            <a:endParaRPr lang="ko-KR" altLang="en-US" sz="1200"/>
          </a:p>
        </p:txBody>
      </p:sp>
      <p:sp>
        <p:nvSpPr>
          <p:cNvPr id="27" name="AutoShape 176">
            <a:extLst>
              <a:ext uri="{FF2B5EF4-FFF2-40B4-BE49-F238E27FC236}">
                <a16:creationId xmlns:a16="http://schemas.microsoft.com/office/drawing/2014/main" id="{AC0C8BE3-FE8F-D8EB-C7ED-B79CFBAEA2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646" y="1458102"/>
            <a:ext cx="9091072" cy="558006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lIns="95735" tIns="47870" rIns="95735" bIns="47870"/>
          <a:lstStyle>
            <a:lvl1pPr marL="179388" indent="-179388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536575" indent="-889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marL="0" indent="0" eaLnBrk="1" hangingPunct="1">
              <a:spcBef>
                <a:spcPts val="600"/>
              </a:spcBef>
              <a:buSzPct val="100000"/>
              <a:defRPr/>
            </a:pP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차선정보 및 목표 경로 평가지표 개발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36575" indent="-268288" eaLnBrk="1" hangingPunct="1">
              <a:spcBef>
                <a:spcPts val="600"/>
              </a:spcBef>
              <a:buClr>
                <a:schemeClr val="tx1"/>
              </a:buClr>
              <a:buSzPct val="100000"/>
              <a:buFont typeface="HY헤드라인M" panose="02030600000101010101" pitchFamily="18" charset="-127"/>
              <a:buAutoNum type="arabicParenR"/>
              <a:defRPr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차선정보 및 목표 경로 평가지표 개발 및 평가 시나리오 설계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14363" indent="-171450" eaLnBrk="1" latinLnBrk="1" hangingPunct="1">
              <a:spcBef>
                <a:spcPts val="600"/>
              </a:spcBef>
              <a:buClr>
                <a:schemeClr val="tx1"/>
              </a:buClr>
              <a:buSzPct val="100000"/>
              <a:buFontTx/>
              <a:buChar char="-"/>
              <a:defRPr/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GT path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확보가 어려운 실제 주행 환경에서 관측 차선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추정 차선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목표 경로의 품질을 동일 로그 기준으로 평가하기 위한 지표 정의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14363" indent="-171450" eaLnBrk="1" latinLnBrk="1" hangingPunct="1">
              <a:spcBef>
                <a:spcPts val="600"/>
              </a:spcBef>
              <a:buClr>
                <a:schemeClr val="tx1"/>
              </a:buClr>
              <a:buSzPct val="100000"/>
              <a:buFontTx/>
              <a:buChar char="-"/>
              <a:defRPr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관측 차선 대비 추정 차선의 정상구간 일치도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비정상구간 연속성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정상 복귀 수렴성을 평가하여 차선정보 후처리 결과의 신뢰성 검토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14363" indent="-171450" eaLnBrk="1" latinLnBrk="1" hangingPunct="1">
              <a:spcBef>
                <a:spcPts val="600"/>
              </a:spcBef>
              <a:buClr>
                <a:schemeClr val="tx1"/>
              </a:buClr>
              <a:buSzPct val="100000"/>
              <a:buFontTx/>
              <a:buChar char="-"/>
              <a:defRPr/>
            </a:pPr>
            <a:r>
              <a:rPr lang="ko-KR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정상구간 일치도를 통해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compensation</a:t>
            </a:r>
            <a:r>
              <a:rPr lang="ko-KR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과정에서 발생하는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지연 성분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(delay)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</a:t>
            </a:r>
            <a:r>
              <a:rPr lang="ko-KR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관측 차선과 추정 차선 간 일치도에 미치는 영향 평가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14363" indent="-171450" eaLnBrk="1" latinLnBrk="1" hangingPunct="1">
              <a:spcBef>
                <a:spcPts val="600"/>
              </a:spcBef>
              <a:buClr>
                <a:schemeClr val="tx1"/>
              </a:buClr>
              <a:buSzPct val="100000"/>
              <a:buFontTx/>
              <a:buChar char="-"/>
              <a:defRPr/>
            </a:pPr>
            <a:r>
              <a:rPr lang="ko-KR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목표 경로의 곡률, 곡률변화율 및 곡률 연속성을 분석하여 차량 동역학 관점에서 경로의 타당성과 제어 적용 가능성 평가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A06FDA41-5C0D-2382-61C9-50DAD9597AC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855" b="39388"/>
          <a:stretch/>
        </p:blipFill>
        <p:spPr>
          <a:xfrm>
            <a:off x="458809" y="3980625"/>
            <a:ext cx="9507192" cy="283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21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98824-55A0-D46E-A599-1CDF20D29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A8E45AB-4368-70D5-1491-66449E6D8F8B}"/>
              </a:ext>
            </a:extLst>
          </p:cNvPr>
          <p:cNvSpPr txBox="1"/>
          <p:nvPr/>
        </p:nvSpPr>
        <p:spPr>
          <a:xfrm>
            <a:off x="1304364" y="599583"/>
            <a:ext cx="78396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연구내용 및 평가방법 </a:t>
            </a:r>
            <a:endParaRPr lang="ko-KR" altLang="en-US" sz="2800" i="1" dirty="0">
              <a:solidFill>
                <a:srgbClr val="FF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19DFD7B-B226-CC43-0608-C659BCAD6CA7}"/>
              </a:ext>
            </a:extLst>
          </p:cNvPr>
          <p:cNvSpPr txBox="1"/>
          <p:nvPr/>
        </p:nvSpPr>
        <p:spPr>
          <a:xfrm>
            <a:off x="10134769" y="7077075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E2886697-6AD6-4FDA-9E51-14A767932366}" type="slidenum">
              <a:rPr lang="ko-KR" altLang="en-US" sz="1200" smtClean="0"/>
              <a:t>8</a:t>
            </a:fld>
            <a:endParaRPr lang="ko-KR" altLang="en-US" sz="1200" dirty="0"/>
          </a:p>
        </p:txBody>
      </p:sp>
      <p:sp>
        <p:nvSpPr>
          <p:cNvPr id="3" name="AutoShape 176">
            <a:extLst>
              <a:ext uri="{FF2B5EF4-FFF2-40B4-BE49-F238E27FC236}">
                <a16:creationId xmlns:a16="http://schemas.microsoft.com/office/drawing/2014/main" id="{E65A5961-77BC-9D9E-09E5-72EAACB68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646" y="1497013"/>
            <a:ext cx="9091072" cy="558006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lIns="95735" tIns="47870" rIns="95735" bIns="47870"/>
          <a:lstStyle>
            <a:lvl1pPr marL="179388" indent="-179388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536575" indent="-889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marL="0" indent="0" eaLnBrk="1" hangingPunct="1">
              <a:spcBef>
                <a:spcPts val="600"/>
              </a:spcBef>
              <a:buSzPct val="100000"/>
              <a:defRPr/>
            </a:pP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시계열 기반 차선 보정 알고리즘 개발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36575" indent="-268288" eaLnBrk="1" hangingPunct="1">
              <a:spcBef>
                <a:spcPts val="600"/>
              </a:spcBef>
              <a:buClr>
                <a:schemeClr val="tx1"/>
              </a:buClr>
              <a:buSzPct val="100000"/>
              <a:buFont typeface="HY헤드라인M" panose="02030600000101010101" pitchFamily="18" charset="-127"/>
              <a:buAutoNum type="arabicParenR"/>
              <a:defRPr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정상구간 기반 시계열 차선 정합 불확실성 모델 구축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14363" indent="-171450" eaLnBrk="1" latinLnBrk="1" hangingPunct="1">
              <a:spcBef>
                <a:spcPts val="600"/>
              </a:spcBef>
              <a:buClr>
                <a:schemeClr val="tx1"/>
              </a:buClr>
              <a:buSzPct val="100000"/>
              <a:buFontTx/>
              <a:buChar char="-"/>
              <a:defRPr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차선 검출 신뢰도가 높은 정상 주행구간의 관측 차선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(raw lane)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기준 </a:t>
            </a: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관측값으로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설정하고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과거 시점 차선정보를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ego-motion compensation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기반으로 현재 </a:t>
            </a: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차량좌표계에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정합하여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현재 차선정보와의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residual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산출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14363" indent="-171450" eaLnBrk="1" latinLnBrk="1" hangingPunct="1">
              <a:spcBef>
                <a:spcPts val="600"/>
              </a:spcBef>
              <a:buClr>
                <a:schemeClr val="tx1"/>
              </a:buClr>
              <a:buSzPct val="100000"/>
              <a:buFontTx/>
              <a:buChar char="-"/>
              <a:defRPr/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residual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lateral offset, heading bias, time delay,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차선 곡률계수 오차 등 정합 오차 성분으로 분해하고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주행 조건별 오차 통계 및 확률분포를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offline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으로 추정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14363" indent="-171450" eaLnBrk="1" latinLnBrk="1" hangingPunct="1">
              <a:spcBef>
                <a:spcPts val="600"/>
              </a:spcBef>
              <a:buClr>
                <a:schemeClr val="tx1"/>
              </a:buClr>
              <a:buSzPct val="100000"/>
              <a:buFontTx/>
              <a:buChar char="-"/>
              <a:defRPr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주행속도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yaw rate,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차선 곡률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시간 간격에 따른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ego-motion compensation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불확실성 모델을 구축하여 차선 검출 저하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결손 구간에서 과거 차선정보의 활용 신뢰도 및 보정 가중치 산정 기준 확보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36575" indent="-268288" eaLnBrk="1" hangingPunct="1">
              <a:spcBef>
                <a:spcPts val="600"/>
              </a:spcBef>
              <a:buClr>
                <a:schemeClr val="tx1"/>
              </a:buClr>
              <a:buSzPct val="100000"/>
              <a:buFont typeface="HY헤드라인M" panose="02030600000101010101" pitchFamily="18" charset="-127"/>
              <a:buAutoNum type="arabicParenR"/>
              <a:defRPr/>
            </a:pP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8D8F1CD-716A-6ED0-4D67-D3EB9169D71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866" r="24223"/>
          <a:stretch/>
        </p:blipFill>
        <p:spPr>
          <a:xfrm>
            <a:off x="2633742" y="3705264"/>
            <a:ext cx="5424328" cy="3510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653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01CDC-2C9A-E5C3-E156-2E1997603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801BDCE-7E09-572A-00FF-899AA949316B}"/>
              </a:ext>
            </a:extLst>
          </p:cNvPr>
          <p:cNvSpPr txBox="1"/>
          <p:nvPr/>
        </p:nvSpPr>
        <p:spPr>
          <a:xfrm>
            <a:off x="1304364" y="599583"/>
            <a:ext cx="78396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연구내용 및 평가방법 </a:t>
            </a:r>
            <a:endParaRPr lang="ko-KR" altLang="en-US" sz="2800" i="1" dirty="0">
              <a:solidFill>
                <a:srgbClr val="FF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C66A1D7-E018-6FAE-4150-23331B607C9C}"/>
              </a:ext>
            </a:extLst>
          </p:cNvPr>
          <p:cNvSpPr txBox="1"/>
          <p:nvPr/>
        </p:nvSpPr>
        <p:spPr>
          <a:xfrm>
            <a:off x="10134769" y="7077075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E2886697-6AD6-4FDA-9E51-14A767932366}" type="slidenum">
              <a:rPr lang="ko-KR" altLang="en-US" sz="1200" smtClean="0"/>
              <a:t>9</a:t>
            </a:fld>
            <a:endParaRPr lang="ko-KR" altLang="en-US" sz="1200"/>
          </a:p>
        </p:txBody>
      </p:sp>
      <p:sp>
        <p:nvSpPr>
          <p:cNvPr id="3" name="AutoShape 176">
            <a:extLst>
              <a:ext uri="{FF2B5EF4-FFF2-40B4-BE49-F238E27FC236}">
                <a16:creationId xmlns:a16="http://schemas.microsoft.com/office/drawing/2014/main" id="{22B18A30-C240-77AB-92FB-63DCD7DE4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646" y="1466411"/>
            <a:ext cx="9091072" cy="558006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lIns="95735" tIns="47870" rIns="95735" bIns="47870"/>
          <a:lstStyle>
            <a:lvl1pPr marL="179388" indent="-179388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536575" indent="-889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marL="0" indent="0" eaLnBrk="1" latinLnBrk="1" hangingPunct="1">
              <a:spcBef>
                <a:spcPts val="600"/>
              </a:spcBef>
              <a:buSzPct val="100000"/>
              <a:defRPr/>
            </a:pP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시계열 기반 차선 보정 알고리즘 개발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68287" indent="0" eaLnBrk="1" latinLnBrk="1" hangingPunct="1">
              <a:spcBef>
                <a:spcPts val="6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2) 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불확실성이 반영된 과거 차선 기반 보정 차선계수 생성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14363" indent="-171450" eaLnBrk="1" latinLnBrk="1" hangingPunct="1">
              <a:spcBef>
                <a:spcPts val="600"/>
              </a:spcBef>
              <a:buClr>
                <a:schemeClr val="tx1"/>
              </a:buClr>
              <a:buSzPct val="100000"/>
              <a:buFontTx/>
              <a:buChar char="-"/>
              <a:defRPr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구축한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ego-motion compensation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불확실성 모델을 활용하여 과거 차선정보를 현재 </a:t>
            </a: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차량좌표계로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정합하고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시간 이력 기반 차선 후보군 생성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14363" indent="-171450" eaLnBrk="1" latinLnBrk="1" hangingPunct="1">
              <a:spcBef>
                <a:spcPts val="600"/>
              </a:spcBef>
              <a:buClr>
                <a:schemeClr val="tx1"/>
              </a:buClr>
              <a:buSzPct val="100000"/>
              <a:buFontTx/>
              <a:buChar char="-"/>
              <a:defRPr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현재 관측 차선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(raw lane)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과 후보 차선 간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lateral offset, heading angle,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곡률계수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residual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및 </a:t>
            </a: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후보별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불확실성을 고려하여 유효 차선 후보 선별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14363" indent="-171450" eaLnBrk="1" latinLnBrk="1" hangingPunct="1">
              <a:spcBef>
                <a:spcPts val="600"/>
              </a:spcBef>
              <a:buClr>
                <a:schemeClr val="tx1"/>
              </a:buClr>
              <a:buSzPct val="100000"/>
              <a:buFontTx/>
              <a:buChar char="-"/>
              <a:defRPr/>
            </a:pP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후보별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신뢰도 가중치 기반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robust fitting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수행하여 보정 차선계수를 산출하고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보정 전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후 차선 연속성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정합성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결손구간 유지 성능을 비교 평가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93CC91F-BA5D-80F6-939E-15DA13D09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956" y="3666914"/>
            <a:ext cx="6213899" cy="3548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972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A7B9E-9484-DDCB-BF92-A0B57931C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6A7DECE-DF6C-C4D4-EF5C-E7E242AF03E8}"/>
              </a:ext>
            </a:extLst>
          </p:cNvPr>
          <p:cNvSpPr txBox="1"/>
          <p:nvPr/>
        </p:nvSpPr>
        <p:spPr>
          <a:xfrm>
            <a:off x="1304364" y="599583"/>
            <a:ext cx="78396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연구내용 및 평가방법 </a:t>
            </a:r>
            <a:endParaRPr lang="ko-KR" altLang="en-US" sz="2800" i="1" dirty="0">
              <a:solidFill>
                <a:srgbClr val="FF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3EBC775-69C3-6EA8-4BBB-FFD417593A4A}"/>
              </a:ext>
            </a:extLst>
          </p:cNvPr>
          <p:cNvSpPr txBox="1"/>
          <p:nvPr/>
        </p:nvSpPr>
        <p:spPr>
          <a:xfrm>
            <a:off x="10134769" y="7077075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E2886697-6AD6-4FDA-9E51-14A767932366}" type="slidenum">
              <a:rPr lang="ko-KR" altLang="en-US" sz="1200" smtClean="0"/>
              <a:t>10</a:t>
            </a:fld>
            <a:endParaRPr lang="ko-KR" altLang="en-US" sz="1200"/>
          </a:p>
        </p:txBody>
      </p:sp>
      <p:sp>
        <p:nvSpPr>
          <p:cNvPr id="49" name="AutoShape 176">
            <a:extLst>
              <a:ext uri="{FF2B5EF4-FFF2-40B4-BE49-F238E27FC236}">
                <a16:creationId xmlns:a16="http://schemas.microsoft.com/office/drawing/2014/main" id="{9415A72E-541E-66CC-CE98-61D63DCACB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651" y="1480627"/>
            <a:ext cx="9001062" cy="558006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lIns="95735" tIns="47870" rIns="95735" bIns="47870"/>
          <a:lstStyle>
            <a:lvl1pPr marL="179388" indent="-179388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536575" indent="-889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marL="342900" indent="-342900" eaLnBrk="1" hangingPunct="1">
              <a:spcBef>
                <a:spcPts val="600"/>
              </a:spcBef>
              <a:buSzPct val="100000"/>
              <a:buFont typeface="+mj-lt"/>
              <a:buAutoNum type="arabicPeriod" startAt="4"/>
              <a:defRPr/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상용차 기준 목표 경로 생성 알고리즘 개발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36575" indent="-268288" eaLnBrk="1" hangingPunct="1">
              <a:spcBef>
                <a:spcPts val="600"/>
              </a:spcBef>
              <a:buClr>
                <a:schemeClr val="tx1"/>
              </a:buClr>
              <a:buSzPct val="100000"/>
              <a:buFont typeface="HY헤드라인M" panose="02030600000101010101" pitchFamily="18" charset="-127"/>
              <a:buAutoNum type="arabicParenR"/>
              <a:defRPr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상용차 주행 특성을 반영한 목표 경로 생성 알고리즘 개발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96924" lvl="1" indent="-171450" eaLnBrk="1" hangingPunct="1">
              <a:spcBef>
                <a:spcPts val="600"/>
              </a:spcBef>
              <a:buClr>
                <a:schemeClr val="tx1"/>
              </a:buClr>
              <a:buSzPct val="100000"/>
              <a:buFontTx/>
              <a:buChar char="-"/>
              <a:defRPr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긴 </a:t>
            </a: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휠베이스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높은 관성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조향계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유격 및 응답 지연 등 상용차 </a:t>
            </a: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동특성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반영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96924" lvl="1" indent="-171450" eaLnBrk="1" hangingPunct="1">
              <a:spcBef>
                <a:spcPts val="600"/>
              </a:spcBef>
              <a:buClr>
                <a:schemeClr val="tx1"/>
              </a:buClr>
              <a:buSzPct val="100000"/>
              <a:buFontTx/>
              <a:buChar char="-"/>
              <a:defRPr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차량 속도 및 </a:t>
            </a: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조향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상태 기반 곡률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횡가속도 한계를 고려하여 주행 가능 목표 경로 생성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96924" lvl="1" indent="-171450" eaLnBrk="1" hangingPunct="1">
              <a:spcBef>
                <a:spcPts val="600"/>
              </a:spcBef>
              <a:buClr>
                <a:schemeClr val="tx1"/>
              </a:buClr>
              <a:buSzPct val="100000"/>
              <a:buFontTx/>
              <a:buChar char="-"/>
              <a:defRPr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곡률 및 곡률 변화율 제약을 통해 급격한 </a:t>
            </a: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조향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명령을 억제하고 경로 추종 안정성 확보 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Shape 8">
            <a:extLst>
              <a:ext uri="{FF2B5EF4-FFF2-40B4-BE49-F238E27FC236}">
                <a16:creationId xmlns:a16="http://schemas.microsoft.com/office/drawing/2014/main" id="{D5953FAB-0F46-A6CF-0BF3-F9D40E1C009A}"/>
              </a:ext>
            </a:extLst>
          </p:cNvPr>
          <p:cNvSpPr/>
          <p:nvPr/>
        </p:nvSpPr>
        <p:spPr>
          <a:xfrm>
            <a:off x="5060029" y="3082986"/>
            <a:ext cx="4860540" cy="381037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3970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1" name="Shape 8">
            <a:extLst>
              <a:ext uri="{FF2B5EF4-FFF2-40B4-BE49-F238E27FC236}">
                <a16:creationId xmlns:a16="http://schemas.microsoft.com/office/drawing/2014/main" id="{A42B02AD-780D-A5D4-6A22-F0CF2B7624FA}"/>
              </a:ext>
            </a:extLst>
          </p:cNvPr>
          <p:cNvSpPr/>
          <p:nvPr/>
        </p:nvSpPr>
        <p:spPr>
          <a:xfrm>
            <a:off x="1240166" y="3058995"/>
            <a:ext cx="1240749" cy="1800078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3970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9">
            <a:extLst>
              <a:ext uri="{FF2B5EF4-FFF2-40B4-BE49-F238E27FC236}">
                <a16:creationId xmlns:a16="http://schemas.microsoft.com/office/drawing/2014/main" id="{DC56458F-7015-E240-AF66-060682FED40B}"/>
              </a:ext>
            </a:extLst>
          </p:cNvPr>
          <p:cNvSpPr/>
          <p:nvPr/>
        </p:nvSpPr>
        <p:spPr>
          <a:xfrm>
            <a:off x="6139027" y="3145676"/>
            <a:ext cx="2803677" cy="21919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355B"/>
                </a:solidFill>
                <a:latin typeface="Malgun Gothic" pitchFamily="34" charset="0"/>
                <a:ea typeface="Malgun Gothic" pitchFamily="34" charset="-122"/>
              </a:rPr>
              <a:t>상용차 </a:t>
            </a:r>
            <a:r>
              <a:rPr lang="ko-KR" altLang="en-US" sz="1100" b="1" dirty="0" err="1">
                <a:solidFill>
                  <a:srgbClr val="12355B"/>
                </a:solidFill>
                <a:latin typeface="Malgun Gothic" pitchFamily="34" charset="0"/>
                <a:ea typeface="Malgun Gothic" pitchFamily="34" charset="-122"/>
              </a:rPr>
              <a:t>동특성</a:t>
            </a:r>
            <a:r>
              <a:rPr lang="ko-KR" altLang="en-US" sz="1100" b="1" dirty="0">
                <a:solidFill>
                  <a:srgbClr val="12355B"/>
                </a:solidFill>
                <a:latin typeface="Malgun Gothic" pitchFamily="34" charset="0"/>
                <a:ea typeface="Malgun Gothic" pitchFamily="34" charset="-122"/>
              </a:rPr>
              <a:t> 제약 기반 목표 경로 최적화</a:t>
            </a:r>
            <a:endParaRPr lang="en-US" sz="1100" dirty="0"/>
          </a:p>
        </p:txBody>
      </p:sp>
      <p:sp>
        <p:nvSpPr>
          <p:cNvPr id="53" name="화살표: 오른쪽 52">
            <a:extLst>
              <a:ext uri="{FF2B5EF4-FFF2-40B4-BE49-F238E27FC236}">
                <a16:creationId xmlns:a16="http://schemas.microsoft.com/office/drawing/2014/main" id="{BCE3A55C-F2AE-8754-0AE0-FC1C7DF01CED}"/>
              </a:ext>
            </a:extLst>
          </p:cNvPr>
          <p:cNvSpPr/>
          <p:nvPr/>
        </p:nvSpPr>
        <p:spPr>
          <a:xfrm>
            <a:off x="4493893" y="3792008"/>
            <a:ext cx="443787" cy="180020"/>
          </a:xfrm>
          <a:prstGeom prst="rightArrow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화살표: 오른쪽 53">
            <a:extLst>
              <a:ext uri="{FF2B5EF4-FFF2-40B4-BE49-F238E27FC236}">
                <a16:creationId xmlns:a16="http://schemas.microsoft.com/office/drawing/2014/main" id="{F7E3EB0E-0656-888A-D987-3F106DB594EB}"/>
              </a:ext>
            </a:extLst>
          </p:cNvPr>
          <p:cNvSpPr/>
          <p:nvPr/>
        </p:nvSpPr>
        <p:spPr>
          <a:xfrm rot="10800000">
            <a:off x="4485656" y="5825257"/>
            <a:ext cx="443787" cy="180020"/>
          </a:xfrm>
          <a:prstGeom prst="rightArrow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Shape 8">
            <a:extLst>
              <a:ext uri="{FF2B5EF4-FFF2-40B4-BE49-F238E27FC236}">
                <a16:creationId xmlns:a16="http://schemas.microsoft.com/office/drawing/2014/main" id="{379CEF37-06FC-9878-571F-2794E14D24D3}"/>
              </a:ext>
            </a:extLst>
          </p:cNvPr>
          <p:cNvSpPr/>
          <p:nvPr/>
        </p:nvSpPr>
        <p:spPr>
          <a:xfrm>
            <a:off x="3025360" y="3054563"/>
            <a:ext cx="1240748" cy="1800078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3970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화살표: 오른쪽 55">
            <a:extLst>
              <a:ext uri="{FF2B5EF4-FFF2-40B4-BE49-F238E27FC236}">
                <a16:creationId xmlns:a16="http://schemas.microsoft.com/office/drawing/2014/main" id="{B2966E3D-F52C-3E60-0793-740018A2BABF}"/>
              </a:ext>
            </a:extLst>
          </p:cNvPr>
          <p:cNvSpPr/>
          <p:nvPr/>
        </p:nvSpPr>
        <p:spPr>
          <a:xfrm>
            <a:off x="2527474" y="3792008"/>
            <a:ext cx="443787" cy="180020"/>
          </a:xfrm>
          <a:prstGeom prst="rightArrow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Text 9">
            <a:extLst>
              <a:ext uri="{FF2B5EF4-FFF2-40B4-BE49-F238E27FC236}">
                <a16:creationId xmlns:a16="http://schemas.microsoft.com/office/drawing/2014/main" id="{02EBD180-E87F-5FEA-DA77-E96AA043FDF5}"/>
              </a:ext>
            </a:extLst>
          </p:cNvPr>
          <p:cNvSpPr/>
          <p:nvPr/>
        </p:nvSpPr>
        <p:spPr>
          <a:xfrm>
            <a:off x="1272215" y="3104000"/>
            <a:ext cx="1176651" cy="2077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355B"/>
                </a:solidFill>
                <a:latin typeface="Malgun Gothic" pitchFamily="34" charset="0"/>
                <a:ea typeface="Malgun Gothic" pitchFamily="34" charset="-122"/>
              </a:rPr>
              <a:t>보정 차선 입력</a:t>
            </a:r>
            <a:endParaRPr lang="en-US" sz="1100" dirty="0">
              <a:solidFill>
                <a:srgbClr val="12355B"/>
              </a:solidFill>
            </a:endParaRPr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89E878A6-A276-7C7C-49AF-1E8D697ED923}"/>
              </a:ext>
            </a:extLst>
          </p:cNvPr>
          <p:cNvSpPr/>
          <p:nvPr/>
        </p:nvSpPr>
        <p:spPr>
          <a:xfrm>
            <a:off x="3057408" y="3121907"/>
            <a:ext cx="1176651" cy="29810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355B"/>
                </a:solidFill>
                <a:latin typeface="Malgun Gothic" pitchFamily="34" charset="0"/>
                <a:ea typeface="Malgun Gothic" pitchFamily="34" charset="-122"/>
              </a:rPr>
              <a:t>중앙선 기반 목표 기준선 생성</a:t>
            </a:r>
            <a:endParaRPr lang="en-US" sz="11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E24943F-E01D-0D38-6B9E-A9B2375AC562}"/>
              </a:ext>
            </a:extLst>
          </p:cNvPr>
          <p:cNvSpPr txBox="1"/>
          <p:nvPr/>
        </p:nvSpPr>
        <p:spPr>
          <a:xfrm>
            <a:off x="1274037" y="3375687"/>
            <a:ext cx="11730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보정 좌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우 차선계수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68921FA2-FD29-1578-10BD-43DF488161D8}"/>
                  </a:ext>
                </a:extLst>
              </p:cNvPr>
              <p:cNvSpPr txBox="1"/>
              <p:nvPr/>
            </p:nvSpPr>
            <p:spPr>
              <a:xfrm>
                <a:off x="1583068" y="3594519"/>
                <a:ext cx="554945" cy="2156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altLang="ko-KR" sz="700" b="1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</m:ctrlPr>
                        </m:sSubSupPr>
                        <m:e>
                          <m:r>
                            <a:rPr lang="en-US" altLang="ko-KR" sz="700" b="1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  <m:t>𝑪</m:t>
                          </m:r>
                        </m:e>
                        <m:sub>
                          <m:r>
                            <a:rPr lang="en-US" altLang="ko-KR" sz="700" b="1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  <m:t>𝒕</m:t>
                          </m:r>
                        </m:sub>
                        <m:sup>
                          <m:r>
                            <a:rPr lang="en-US" altLang="ko-KR" sz="700" b="1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  <m:t>𝑳</m:t>
                          </m:r>
                          <m:r>
                            <a:rPr lang="en-US" altLang="ko-KR" sz="700" b="1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  <m:t>,</m:t>
                          </m:r>
                          <m:r>
                            <a:rPr lang="en-US" altLang="ko-KR" sz="700" b="1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  <m:t>𝒄𝒐𝒓𝒓</m:t>
                          </m:r>
                        </m:sup>
                      </m:sSubSup>
                      <m:r>
                        <a:rPr lang="en-US" altLang="ko-KR" sz="700" b="1" i="1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맑은 고딕" panose="020B0503020000020004" pitchFamily="50" charset="-127"/>
                        </a:rPr>
                        <m:t>, </m:t>
                      </m:r>
                      <m:sSubSup>
                        <m:sSubSupPr>
                          <m:ctrlPr>
                            <a:rPr lang="en-US" altLang="ko-KR" sz="700" b="1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</m:ctrlPr>
                        </m:sSubSupPr>
                        <m:e>
                          <m:r>
                            <a:rPr lang="en-US" altLang="ko-KR" sz="700" b="1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  <m:t>𝑪</m:t>
                          </m:r>
                        </m:e>
                        <m:sub>
                          <m:r>
                            <a:rPr lang="en-US" altLang="ko-KR" sz="700" b="1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  <m:t>𝒕</m:t>
                          </m:r>
                        </m:sub>
                        <m:sup>
                          <m:r>
                            <a:rPr lang="en-US" altLang="ko-KR" sz="700" b="1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  <m:t>𝑹</m:t>
                          </m:r>
                          <m:r>
                            <a:rPr lang="en-US" altLang="ko-KR" sz="700" b="1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  <m:t>,</m:t>
                          </m:r>
                          <m:r>
                            <a:rPr lang="en-US" altLang="ko-KR" sz="700" b="1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  <m:t>𝒄𝒐𝒓𝒓</m:t>
                          </m:r>
                        </m:sup>
                      </m:sSub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68921FA2-FD29-1578-10BD-43DF488161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3068" y="3594519"/>
                <a:ext cx="554945" cy="215636"/>
              </a:xfrm>
              <a:prstGeom prst="rect">
                <a:avLst/>
              </a:prstGeom>
              <a:blipFill>
                <a:blip r:embed="rId2"/>
                <a:stretch>
                  <a:fillRect l="-65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Box 60">
            <a:extLst>
              <a:ext uri="{FF2B5EF4-FFF2-40B4-BE49-F238E27FC236}">
                <a16:creationId xmlns:a16="http://schemas.microsoft.com/office/drawing/2014/main" id="{19A077DF-7629-3142-4118-A1474DC59551}"/>
              </a:ext>
            </a:extLst>
          </p:cNvPr>
          <p:cNvSpPr txBox="1"/>
          <p:nvPr/>
        </p:nvSpPr>
        <p:spPr>
          <a:xfrm>
            <a:off x="1358768" y="3871012"/>
            <a:ext cx="10035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보정 차선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EAEF7008-BFD0-66CD-FA44-AB7C22D4FD3B}"/>
                  </a:ext>
                </a:extLst>
              </p:cNvPr>
              <p:cNvSpPr txBox="1"/>
              <p:nvPr/>
            </p:nvSpPr>
            <p:spPr>
              <a:xfrm>
                <a:off x="1250655" y="4032375"/>
                <a:ext cx="1219771" cy="4117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sSubSupPr>
                          <m:ctrlPr>
                            <a:rPr lang="en-US" altLang="ko-KR" sz="700" b="1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</m:ctrlPr>
                        </m:sSubSupPr>
                        <m:e>
                          <m:r>
                            <a:rPr lang="en-US" altLang="ko-KR" sz="700" b="1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  <m:t>𝒚</m:t>
                          </m:r>
                        </m:e>
                        <m:sub>
                          <m:r>
                            <a:rPr lang="en-US" altLang="ko-KR" sz="700" b="1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  <m:t>𝒕</m:t>
                          </m:r>
                        </m:sub>
                        <m:sup>
                          <m:r>
                            <a:rPr lang="en-US" altLang="ko-KR" sz="700" b="1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  <m:t>𝑳</m:t>
                          </m:r>
                          <m:r>
                            <a:rPr lang="en-US" altLang="ko-KR" sz="700" b="1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  <m:t>,</m:t>
                          </m:r>
                          <m:r>
                            <a:rPr lang="en-US" altLang="ko-KR" sz="700" b="1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  <m:t>𝒄𝒐𝒓𝒓</m:t>
                          </m:r>
                        </m:sup>
                      </m:sSubSup>
                      <m:d>
                        <m:dPr>
                          <m:ctrlPr>
                            <a:rPr lang="en-US" altLang="ko-KR" sz="700" b="1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</m:ctrlPr>
                        </m:dPr>
                        <m:e>
                          <m:r>
                            <a:rPr lang="en-US" altLang="ko-KR" sz="700" b="1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  <m:t>𝒙</m:t>
                          </m:r>
                        </m:e>
                      </m:d>
                      <m:r>
                        <a:rPr lang="en-US" altLang="ko-KR" sz="700" b="1" i="1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맑은 고딕" panose="020B0503020000020004" pitchFamily="50" charset="-127"/>
                        </a:rPr>
                        <m:t> = </m:t>
                      </m:r>
                      <m:nary>
                        <m:naryPr>
                          <m:chr m:val="∑"/>
                          <m:ctrlPr>
                            <a:rPr lang="en-US" altLang="ko-KR" sz="700" b="1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700" b="1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  <m:t>𝒋</m:t>
                          </m:r>
                          <m:r>
                            <a:rPr lang="en-US" altLang="ko-KR" sz="700" b="1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  <m:t>=</m:t>
                          </m:r>
                          <m:r>
                            <a:rPr lang="en-US" altLang="ko-KR" sz="700" b="1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  <m:t>𝟎</m:t>
                          </m:r>
                        </m:sub>
                        <m:sup>
                          <m:r>
                            <a:rPr lang="en-US" altLang="ko-KR" sz="700" b="1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  <m:t>𝟑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ko-KR" sz="700" b="1" i="1" dirty="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</a:rPr>
                              </m:ctrlPr>
                            </m:sSubSupPr>
                            <m:e>
                              <m:r>
                                <a:rPr lang="en-US" altLang="ko-KR" sz="700" b="1" i="1" dirty="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US" altLang="ko-KR" sz="700" b="1" i="1" dirty="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</a:rPr>
                                <m:t>𝒋</m:t>
                              </m:r>
                              <m:r>
                                <a:rPr lang="en-US" altLang="ko-KR" sz="700" b="1" i="1" dirty="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</a:rPr>
                                <m:t>,</m:t>
                              </m:r>
                              <m:r>
                                <a:rPr lang="en-US" altLang="ko-KR" sz="700" b="1" i="1" dirty="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</a:rPr>
                                <m:t>𝒕</m:t>
                              </m:r>
                            </m:sub>
                            <m:sup>
                              <m:r>
                                <a:rPr lang="en-US" altLang="ko-KR" sz="700" b="1" i="1" dirty="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</a:rPr>
                                <m:t>𝑳</m:t>
                              </m:r>
                              <m:r>
                                <a:rPr lang="en-US" altLang="ko-KR" sz="700" b="1" i="1" dirty="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</a:rPr>
                                <m:t>,</m:t>
                              </m:r>
                              <m:r>
                                <a:rPr lang="en-US" altLang="ko-KR" sz="700" b="1" i="1" dirty="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</a:rPr>
                                <m:t>𝒄𝒐𝒓𝒓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en-US" altLang="ko-KR" sz="700" b="1" i="1" dirty="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</a:rPr>
                              </m:ctrlPr>
                            </m:sSupPr>
                            <m:e>
                              <m:r>
                                <a:rPr lang="en-US" altLang="ko-KR" sz="700" b="1" i="1" dirty="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ko-KR" sz="700" b="1" i="1" dirty="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</a:rPr>
                                <m:t>𝒋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ko-KR" sz="700" b="1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ambria Math" panose="02040503050406030204" pitchFamily="18" charset="0"/>
                  <a:ea typeface="맑은 고딕" panose="020B0503020000020004" pitchFamily="50" charset="-127"/>
                </a:endParaRPr>
              </a:p>
            </p:txBody>
          </p:sp>
        </mc:Choice>
        <mc:Fallback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EAEF7008-BFD0-66CD-FA44-AB7C22D4FD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0655" y="4032375"/>
                <a:ext cx="1219771" cy="411716"/>
              </a:xfrm>
              <a:prstGeom prst="rect">
                <a:avLst/>
              </a:prstGeom>
              <a:blipFill>
                <a:blip r:embed="rId3"/>
                <a:stretch>
                  <a:fillRect t="-77941" r="-20000" b="-12205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C7931258-FCC3-BCDB-F96A-47ACE3486E28}"/>
                  </a:ext>
                </a:extLst>
              </p:cNvPr>
              <p:cNvSpPr txBox="1"/>
              <p:nvPr/>
            </p:nvSpPr>
            <p:spPr>
              <a:xfrm>
                <a:off x="1240710" y="4419401"/>
                <a:ext cx="1239660" cy="4117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ar-AE" altLang="ko-KR" sz="700" b="1" i="1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맑은 고딕" panose="020B0503020000020004" pitchFamily="50" charset="-127"/>
                        </a:rPr>
                        <m:t> </m:t>
                      </m:r>
                      <m:sSubSup>
                        <m:sSubSupPr>
                          <m:ctrlPr>
                            <a:rPr lang="ko-KR" altLang="ar-AE" sz="700" b="1" i="1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</m:ctrlPr>
                        </m:sSubSupPr>
                        <m:e>
                          <m:r>
                            <a:rPr lang="ko-KR" altLang="ar-AE" sz="700" b="1" i="1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  <m:t>𝒚</m:t>
                          </m:r>
                        </m:e>
                        <m:sub>
                          <m:r>
                            <a:rPr lang="ko-KR" altLang="ar-AE" sz="700" b="1" i="1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  <m:t>𝒕</m:t>
                          </m:r>
                        </m:sub>
                        <m:sup>
                          <m:r>
                            <a:rPr lang="ko-KR" altLang="ar-AE" sz="700" b="1" i="1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  <m:t>𝑹</m:t>
                          </m:r>
                          <m:r>
                            <a:rPr lang="ar-AE" altLang="ko-KR" sz="700" b="1" i="1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  <m:t>,</m:t>
                          </m:r>
                          <m:r>
                            <a:rPr lang="ko-KR" altLang="ar-AE" sz="700" b="1" i="1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  <m:t>𝒄𝒐𝒓𝒓</m:t>
                          </m:r>
                        </m:sup>
                      </m:sSubSup>
                      <m:d>
                        <m:dPr>
                          <m:ctrlPr>
                            <a:rPr lang="ko-KR" altLang="ar-AE" sz="700" b="1" i="1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</m:ctrlPr>
                        </m:dPr>
                        <m:e>
                          <m:r>
                            <a:rPr lang="ko-KR" altLang="ar-AE" sz="700" b="1" i="1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  <m:t>𝒙</m:t>
                          </m:r>
                        </m:e>
                      </m:d>
                      <m:r>
                        <a:rPr lang="ar-AE" altLang="ko-KR" sz="700" b="1" i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  <a:ea typeface="맑은 고딕" panose="020B0503020000020004" pitchFamily="50" charset="-127"/>
                        </a:rPr>
                        <m:t> = </m:t>
                      </m:r>
                      <m:nary>
                        <m:naryPr>
                          <m:chr m:val="∑"/>
                          <m:ctrlPr>
                            <a:rPr lang="ko-KR" altLang="ar-AE" sz="700" b="1" i="1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ko-KR" altLang="ar-AE" sz="700" b="1" i="1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  <m:t>𝒋</m:t>
                          </m:r>
                          <m:r>
                            <a:rPr lang="ar-AE" altLang="ko-KR" sz="700" b="1" i="1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  <m:t>=</m:t>
                          </m:r>
                          <m:r>
                            <a:rPr lang="ko-KR" altLang="ar-AE" sz="700" b="1" i="1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  <m:t>𝟎</m:t>
                          </m:r>
                        </m:sub>
                        <m:sup>
                          <m:r>
                            <a:rPr lang="ko-KR" altLang="ar-AE" sz="700" b="1" i="1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  <m:t>𝟑</m:t>
                          </m:r>
                        </m:sup>
                        <m:e>
                          <m:sSubSup>
                            <m:sSubSupPr>
                              <m:ctrlPr>
                                <a:rPr lang="ko-KR" altLang="ar-AE" sz="700" b="1" i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</a:rPr>
                              </m:ctrlPr>
                            </m:sSubSupPr>
                            <m:e>
                              <m:r>
                                <a:rPr lang="ko-KR" altLang="ar-AE" sz="700" b="1" i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ko-KR" altLang="ar-AE" sz="700" b="1" i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</a:rPr>
                                <m:t>𝒋</m:t>
                              </m:r>
                              <m:r>
                                <a:rPr lang="ar-AE" altLang="ko-KR" sz="700" b="1" i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</a:rPr>
                                <m:t>,</m:t>
                              </m:r>
                              <m:r>
                                <a:rPr lang="ko-KR" altLang="ar-AE" sz="700" b="1" i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</a:rPr>
                                <m:t>𝒕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ko-KR" sz="700" b="1" i="1" dirty="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</a:rPr>
                                <m:t>R</m:t>
                              </m:r>
                              <m:r>
                                <a:rPr lang="ar-AE" altLang="ko-KR" sz="700" b="1" i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</a:rPr>
                                <m:t>,</m:t>
                              </m:r>
                              <m:r>
                                <a:rPr lang="ko-KR" altLang="ar-AE" sz="700" b="1" i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</a:rPr>
                                <m:t>𝒄𝒐𝒓𝒓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ko-KR" altLang="ar-AE" sz="700" b="1" i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</a:rPr>
                              </m:ctrlPr>
                            </m:sSupPr>
                            <m:e>
                              <m:r>
                                <a:rPr lang="ko-KR" altLang="ar-AE" sz="700" b="1" i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ko-KR" altLang="ar-AE" sz="700" b="1" i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</a:rPr>
                                <m:t>𝒋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ar-AE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C7931258-FCC3-BCDB-F96A-47ACE3486E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0710" y="4419401"/>
                <a:ext cx="1239660" cy="411716"/>
              </a:xfrm>
              <a:prstGeom prst="rect">
                <a:avLst/>
              </a:prstGeom>
              <a:blipFill>
                <a:blip r:embed="rId4"/>
                <a:stretch>
                  <a:fillRect t="-77941" r="-19212" b="-12205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4" name="그림 63">
            <a:extLst>
              <a:ext uri="{FF2B5EF4-FFF2-40B4-BE49-F238E27FC236}">
                <a16:creationId xmlns:a16="http://schemas.microsoft.com/office/drawing/2014/main" id="{2665EE21-0D0C-81E1-4875-AAFFE959C5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7408" y="3517562"/>
            <a:ext cx="1112460" cy="1219956"/>
          </a:xfrm>
          <a:prstGeom prst="rect">
            <a:avLst/>
          </a:prstGeom>
        </p:spPr>
      </p:pic>
      <p:grpSp>
        <p:nvGrpSpPr>
          <p:cNvPr id="66" name="그룹 65">
            <a:extLst>
              <a:ext uri="{FF2B5EF4-FFF2-40B4-BE49-F238E27FC236}">
                <a16:creationId xmlns:a16="http://schemas.microsoft.com/office/drawing/2014/main" id="{E7440D08-869B-B212-E611-5CED97930C3E}"/>
              </a:ext>
            </a:extLst>
          </p:cNvPr>
          <p:cNvGrpSpPr/>
          <p:nvPr/>
        </p:nvGrpSpPr>
        <p:grpSpPr>
          <a:xfrm>
            <a:off x="6704062" y="5846022"/>
            <a:ext cx="2835709" cy="766348"/>
            <a:chOff x="4814204" y="3180759"/>
            <a:chExt cx="2835709" cy="76634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884AE501-6BF4-BF17-E189-63A29FF63CB2}"/>
                    </a:ext>
                  </a:extLst>
                </p:cNvPr>
                <p:cNvSpPr txBox="1"/>
                <p:nvPr/>
              </p:nvSpPr>
              <p:spPr>
                <a:xfrm>
                  <a:off x="4814204" y="3180759"/>
                  <a:ext cx="2620959" cy="3148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lang="en-US" altLang="ko-KR" sz="900" b="1" i="1" dirty="0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</a:rPr>
                            </m:ctrlPr>
                          </m:sSubSupPr>
                          <m:e>
                            <m:r>
                              <a:rPr lang="en-US" altLang="ko-KR" sz="900" b="1" i="1" dirty="0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</a:rPr>
                              <m:t>𝑼</m:t>
                            </m:r>
                          </m:e>
                          <m:sub>
                            <m:r>
                              <a:rPr lang="en-US" altLang="ko-KR" sz="900" b="1" i="1" dirty="0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</a:rPr>
                              <m:t>𝒕</m:t>
                            </m:r>
                          </m:sub>
                          <m:sup>
                            <m:r>
                              <a:rPr lang="en-US" altLang="ko-KR" sz="900" b="1" i="1" dirty="0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</a:rPr>
                              <m:t>∗</m:t>
                            </m:r>
                          </m:sup>
                        </m:sSubSup>
                        <m:r>
                          <a:rPr lang="en-US" altLang="ko-KR" sz="900" b="1" i="1" dirty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  <m:t>=</m:t>
                        </m:r>
                        <m:func>
                          <m:funcPr>
                            <m:ctrlPr>
                              <a:rPr lang="en-US" altLang="ko-KR" sz="900" b="0" i="1" dirty="0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ko-KR" sz="900" b="0" i="0" dirty="0" smtClean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900" b="0" i="0" dirty="0" smtClean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</a:rPr>
                                  <m:t>argmin</m:t>
                                </m:r>
                                <m:r>
                                  <a:rPr lang="en-US" altLang="ko-KR" sz="900" b="0" i="0" dirty="0" smtClean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</a:rPr>
                                  <m:t> </m:t>
                                </m:r>
                              </m:e>
                              <m:lim>
                                <m:sSub>
                                  <m:sSubPr>
                                    <m:ctrlPr>
                                      <a:rPr lang="en-US" altLang="ko-KR" sz="900" b="0" i="1" dirty="0" smtClean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900" b="0" i="1" dirty="0" smtClean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en-US" altLang="ko-KR" sz="900" b="0" i="1" dirty="0" smtClean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</a:rPr>
                                      <m:t>𝑡</m:t>
                                    </m:r>
                                  </m:sub>
                                </m:sSub>
                              </m:lim>
                            </m:limLow>
                            <m:r>
                              <a:rPr lang="en-US" altLang="ko-KR" sz="900" b="1" i="1" dirty="0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</a:rPr>
                              <m:t>(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ko-KR" sz="900" b="1" i="1" dirty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900" b="1" i="1" dirty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</a:rPr>
                                  <m:t>𝑱</m:t>
                                </m:r>
                              </m:e>
                              <m:sub>
                                <m:r>
                                  <a:rPr lang="en-US" altLang="ko-KR" sz="900" b="1" i="1" dirty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</a:rPr>
                                  <m:t>𝒓𝒆𝒇</m:t>
                                </m:r>
                              </m:sub>
                            </m:sSub>
                            <m:r>
                              <a:rPr lang="en-US" altLang="ko-KR" sz="900" b="1" i="1" dirty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</a:rPr>
                              <m:t>+ </m:t>
                            </m:r>
                            <m:sSub>
                              <m:sSubPr>
                                <m:ctrlPr>
                                  <a:rPr lang="en-US" altLang="ko-KR" sz="900" b="1" i="1" dirty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900" b="1" i="1" dirty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</a:rPr>
                                  <m:t>𝑱</m:t>
                                </m:r>
                              </m:e>
                              <m:sub>
                                <m:r>
                                  <a:rPr lang="en-US" altLang="ko-KR" sz="900" b="1" i="1" dirty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</a:rPr>
                                  <m:t>𝒔𝒎𝒐𝒐</m:t>
                                </m:r>
                                <m:r>
                                  <a:rPr lang="en-US" altLang="ko-KR" sz="900" b="1" i="1" dirty="0" smtClean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</a:rPr>
                                  <m:t>𝒕</m:t>
                                </m:r>
                                <m:r>
                                  <a:rPr lang="en-US" altLang="ko-KR" sz="900" b="1" i="1" dirty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</a:rPr>
                                  <m:t>𝒉</m:t>
                                </m:r>
                              </m:sub>
                            </m:sSub>
                            <m:r>
                              <a:rPr lang="en-US" altLang="ko-KR" sz="900" b="1" i="1" dirty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</a:rPr>
                              <m:t>+ </m:t>
                            </m:r>
                            <m:sSub>
                              <m:sSubPr>
                                <m:ctrlPr>
                                  <a:rPr lang="en-US" altLang="ko-KR" sz="900" b="1" i="1" dirty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900" b="1" i="1" dirty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</a:rPr>
                                  <m:t>𝑱</m:t>
                                </m:r>
                              </m:e>
                              <m:sub>
                                <m:r>
                                  <a:rPr lang="en-US" altLang="ko-KR" sz="900" b="1" i="1" dirty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</a:rPr>
                                  <m:t>𝒅𝒚𝒏𝒂𝒎𝒊𝒄</m:t>
                                </m:r>
                              </m:sub>
                            </m:sSub>
                            <m:r>
                              <a:rPr lang="en-US" altLang="ko-KR" sz="900" b="1" i="1" dirty="0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</a:rPr>
                              <m:t>)</m:t>
                            </m:r>
                          </m:e>
                        </m:func>
                      </m:oMath>
                    </m:oMathPara>
                  </a14:m>
                  <a:endParaRPr sz="2000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4F9B6578-5E84-FC9A-A798-762A2D0F37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14204" y="3180759"/>
                  <a:ext cx="2620959" cy="31489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99409F81-A23B-D357-4B46-E150AAFAA386}"/>
                    </a:ext>
                  </a:extLst>
                </p:cNvPr>
                <p:cNvSpPr txBox="1"/>
                <p:nvPr/>
              </p:nvSpPr>
              <p:spPr>
                <a:xfrm>
                  <a:off x="5635775" y="3426067"/>
                  <a:ext cx="2014138" cy="5210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600" b="1" i="1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</m:ctrlPr>
                        </m:sSubPr>
                        <m:e>
                          <m:r>
                            <a:rPr lang="en-US" altLang="ko-KR" sz="600" b="1" i="1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  <m:t>𝑱</m:t>
                          </m:r>
                        </m:e>
                        <m:sub>
                          <m:r>
                            <a:rPr lang="en-US" altLang="ko-KR" sz="600" b="1" i="1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  <m:t>𝒓𝒆𝒇</m:t>
                          </m:r>
                        </m:sub>
                      </m:sSub>
                    </m:oMath>
                  </a14:m>
                  <a:r>
                    <a:rPr lang="en-US" sz="600" b="1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 : </a:t>
                  </a:r>
                  <a:r>
                    <a:rPr lang="ko-KR" altLang="en-US" sz="600" b="1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보정 차선 기반 목표 기준선과의 일치 비용</a:t>
                  </a:r>
                  <a:endParaRPr lang="en-US" altLang="ko-KR" sz="2000" b="1" dirty="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  <a:p>
                  <a:pPr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600" b="1" i="1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</m:ctrlPr>
                        </m:sSubPr>
                        <m:e>
                          <m:r>
                            <a:rPr lang="en-US" altLang="ko-KR" sz="600" b="1" i="1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  <m:t>𝑱</m:t>
                          </m:r>
                        </m:e>
                        <m:sub>
                          <m:r>
                            <a:rPr lang="en-US" altLang="ko-KR" sz="600" b="1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  <m:t>𝒔𝒎𝒐𝒐𝒕𝒉</m:t>
                          </m:r>
                        </m:sub>
                      </m:sSub>
                    </m:oMath>
                  </a14:m>
                  <a:r>
                    <a:rPr lang="en-US" altLang="ko-KR" sz="600" b="1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 : </a:t>
                  </a:r>
                  <a:r>
                    <a:rPr lang="ko-KR" altLang="en-US" sz="600" b="1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급격한 경로 변화 억제 비용</a:t>
                  </a:r>
                  <a:endParaRPr lang="en-US" altLang="ko-KR" sz="600" b="1" dirty="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  <a:p>
                  <a:pPr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600" b="1" i="1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</m:ctrlPr>
                        </m:sSubPr>
                        <m:e>
                          <m:r>
                            <a:rPr lang="en-US" altLang="ko-KR" sz="600" b="1" i="1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  <m:t>𝑱</m:t>
                          </m:r>
                        </m:e>
                        <m:sub>
                          <m:r>
                            <a:rPr lang="en-US" altLang="ko-KR" sz="600" b="1" i="1" dirty="0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  <m:t>𝒅𝒚𝒏𝒂𝒎𝒊𝒄</m:t>
                          </m:r>
                        </m:sub>
                      </m:sSub>
                    </m:oMath>
                  </a14:m>
                  <a:r>
                    <a:rPr lang="en-US" altLang="ko-KR" sz="600" b="1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 : </a:t>
                  </a:r>
                  <a:r>
                    <a:rPr lang="ko-KR" altLang="en-US" sz="600" b="1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상용차 동역학 모델 기반 차량 응답 비용</a:t>
                  </a:r>
                  <a:endParaRPr lang="en-US" altLang="ko-KR" sz="600" b="1" dirty="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4295BC39-5FB8-B6A2-7C2F-7AC1F34318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35775" y="3426067"/>
                  <a:ext cx="2014138" cy="52104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69" name="그림 68">
            <a:extLst>
              <a:ext uri="{FF2B5EF4-FFF2-40B4-BE49-F238E27FC236}">
                <a16:creationId xmlns:a16="http://schemas.microsoft.com/office/drawing/2014/main" id="{9FEE42BE-FD56-0206-E024-8FF2E1064E1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962" b="19663"/>
          <a:stretch>
            <a:fillRect/>
          </a:stretch>
        </p:blipFill>
        <p:spPr>
          <a:xfrm>
            <a:off x="5200606" y="3734288"/>
            <a:ext cx="3081581" cy="1260894"/>
          </a:xfrm>
          <a:prstGeom prst="rect">
            <a:avLst/>
          </a:prstGeom>
        </p:spPr>
      </p:pic>
      <p:sp>
        <p:nvSpPr>
          <p:cNvPr id="70" name="Shape 8">
            <a:extLst>
              <a:ext uri="{FF2B5EF4-FFF2-40B4-BE49-F238E27FC236}">
                <a16:creationId xmlns:a16="http://schemas.microsoft.com/office/drawing/2014/main" id="{47566124-F0B5-DDDE-70DB-4F5C6B0AA3AE}"/>
              </a:ext>
            </a:extLst>
          </p:cNvPr>
          <p:cNvSpPr/>
          <p:nvPr/>
        </p:nvSpPr>
        <p:spPr>
          <a:xfrm>
            <a:off x="1240166" y="4946115"/>
            <a:ext cx="3058253" cy="193830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3970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9">
            <a:extLst>
              <a:ext uri="{FF2B5EF4-FFF2-40B4-BE49-F238E27FC236}">
                <a16:creationId xmlns:a16="http://schemas.microsoft.com/office/drawing/2014/main" id="{54885BFF-4694-94DB-B124-2F5AC3BB720D}"/>
              </a:ext>
            </a:extLst>
          </p:cNvPr>
          <p:cNvSpPr/>
          <p:nvPr/>
        </p:nvSpPr>
        <p:spPr>
          <a:xfrm>
            <a:off x="1420186" y="4907627"/>
            <a:ext cx="2655514" cy="447591"/>
          </a:xfrm>
          <a:prstGeom prst="rect">
            <a:avLst/>
          </a:prstGeom>
          <a:noFill/>
          <a:ln w="12700"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altLang="ko-KR" sz="1220" b="1" dirty="0">
                <a:solidFill>
                  <a:srgbClr val="12355B"/>
                </a:solidFill>
                <a:latin typeface="Malgun Gothic" pitchFamily="34" charset="0"/>
                <a:ea typeface="Malgun Gothic" pitchFamily="34" charset="-122"/>
              </a:rPr>
              <a:t>3</a:t>
            </a:r>
            <a:r>
              <a:rPr lang="ko-KR" altLang="en-US" sz="1220" b="1" dirty="0">
                <a:solidFill>
                  <a:srgbClr val="12355B"/>
                </a:solidFill>
                <a:latin typeface="Malgun Gothic" pitchFamily="34" charset="0"/>
                <a:ea typeface="Malgun Gothic" pitchFamily="34" charset="-122"/>
              </a:rPr>
              <a:t>차 다항식 기반 목표 경로 출력</a:t>
            </a:r>
            <a:endParaRPr lang="en-US" sz="122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26DC153A-0D93-9C42-CA27-D45987EFA1CF}"/>
                  </a:ext>
                </a:extLst>
              </p:cNvPr>
              <p:cNvSpPr txBox="1"/>
              <p:nvPr/>
            </p:nvSpPr>
            <p:spPr>
              <a:xfrm>
                <a:off x="2292848" y="5947667"/>
                <a:ext cx="952889" cy="3601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altLang="ko-KR" sz="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𝑡𝑎𝑟</m:t>
                          </m:r>
                        </m:sup>
                      </m:sSubSup>
                      <m:d>
                        <m:dPr>
                          <m:ctrlPr>
                            <a:rPr lang="en-US" altLang="ko-KR" sz="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8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altLang="ko-KR" sz="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  <m:t>𝑡𝑎𝑟</m:t>
                              </m:r>
                            </m:sup>
                          </m:sSubSup>
                        </m:e>
                      </m:nary>
                      <m:sSup>
                        <m:sSupPr>
                          <m:ctrlPr>
                            <a:rPr lang="en-US" altLang="ko-KR" sz="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</m:sSup>
                    </m:oMath>
                  </m:oMathPara>
                </a14:m>
                <a:endParaRPr lang="ko-KR" altLang="en-US" sz="800" dirty="0"/>
              </a:p>
            </p:txBody>
          </p:sp>
        </mc:Choice>
        <mc:Fallback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26DC153A-0D93-9C42-CA27-D45987EFA1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848" y="5947667"/>
                <a:ext cx="952889" cy="360163"/>
              </a:xfrm>
              <a:prstGeom prst="rect">
                <a:avLst/>
              </a:prstGeom>
              <a:blipFill>
                <a:blip r:embed="rId9"/>
                <a:stretch>
                  <a:fillRect l="-1923" t="-113559" r="-46154" b="-1677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D1F105FB-2404-2C65-54A6-E1CDAB478A73}"/>
                  </a:ext>
                </a:extLst>
              </p:cNvPr>
              <p:cNvSpPr txBox="1"/>
              <p:nvPr/>
            </p:nvSpPr>
            <p:spPr>
              <a:xfrm>
                <a:off x="2019688" y="6524683"/>
                <a:ext cx="1492973" cy="1726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altLang="ko-KR" sz="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𝑡𝑎𝑟</m:t>
                          </m:r>
                        </m:sup>
                      </m:sSubSup>
                      <m:r>
                        <a:rPr lang="en-US" altLang="ko-KR" sz="8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ko-KR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8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ko-KR" sz="800" i="1">
                                      <a:latin typeface="Cambria Math" panose="02040503050406030204" pitchFamily="18" charset="0"/>
                                    </a:rPr>
                                    <m:t>0,</m:t>
                                  </m:r>
                                  <m:r>
                                    <a:rPr lang="en-US" altLang="ko-KR" sz="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US" altLang="ko-KR" sz="800" i="1">
                                      <a:latin typeface="Cambria Math" panose="02040503050406030204" pitchFamily="18" charset="0"/>
                                    </a:rPr>
                                    <m:t>𝑡𝑎𝑟</m:t>
                                  </m:r>
                                </m:sup>
                              </m:sSubSup>
                              <m: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  <m:t> </m:t>
                              </m:r>
                              <m:sSubSup>
                                <m:sSubSupPr>
                                  <m:ctrlPr>
                                    <a:rPr lang="en-US" altLang="ko-KR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8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ko-KR" sz="800" i="1"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altLang="ko-KR" sz="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US" altLang="ko-KR" sz="800" i="1">
                                      <a:latin typeface="Cambria Math" panose="02040503050406030204" pitchFamily="18" charset="0"/>
                                    </a:rPr>
                                    <m:t>𝑡𝑎𝑟</m:t>
                                  </m:r>
                                </m:sup>
                              </m:sSubSup>
                              <m: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  <m:t> </m:t>
                              </m:r>
                              <m:sSubSup>
                                <m:sSubSupPr>
                                  <m:ctrlPr>
                                    <a:rPr lang="en-US" altLang="ko-KR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8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ko-KR" sz="800" i="1">
                                      <a:latin typeface="Cambria Math" panose="02040503050406030204" pitchFamily="18" charset="0"/>
                                    </a:rPr>
                                    <m:t>2,</m:t>
                                  </m:r>
                                  <m:r>
                                    <a:rPr lang="en-US" altLang="ko-KR" sz="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US" altLang="ko-KR" sz="800" i="1">
                                      <a:latin typeface="Cambria Math" panose="02040503050406030204" pitchFamily="18" charset="0"/>
                                    </a:rPr>
                                    <m:t>𝑡𝑎𝑟</m:t>
                                  </m:r>
                                </m:sup>
                              </m:sSubSup>
                              <m: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  <m:t> </m:t>
                              </m:r>
                              <m:sSubSup>
                                <m:sSubSupPr>
                                  <m:ctrlPr>
                                    <a:rPr lang="en-US" altLang="ko-KR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8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ko-KR" sz="800" i="1">
                                      <a:latin typeface="Cambria Math" panose="02040503050406030204" pitchFamily="18" charset="0"/>
                                    </a:rPr>
                                    <m:t>3,</m:t>
                                  </m:r>
                                  <m:r>
                                    <a:rPr lang="en-US" altLang="ko-KR" sz="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US" altLang="ko-KR" sz="800" i="1">
                                      <a:latin typeface="Cambria Math" panose="02040503050406030204" pitchFamily="18" charset="0"/>
                                    </a:rPr>
                                    <m:t>𝑡𝑎𝑟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ko-KR" altLang="en-US" sz="800" dirty="0"/>
              </a:p>
            </p:txBody>
          </p:sp>
        </mc:Choice>
        <mc:Fallback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D1F105FB-2404-2C65-54A6-E1CDAB478A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9688" y="6524683"/>
                <a:ext cx="1492973" cy="172611"/>
              </a:xfrm>
              <a:prstGeom prst="rect">
                <a:avLst/>
              </a:prstGeom>
              <a:blipFill>
                <a:blip r:embed="rId10"/>
                <a:stretch>
                  <a:fillRect b="-3103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830ECA35-D2B8-3B67-7F82-5919E4E55876}"/>
                  </a:ext>
                </a:extLst>
              </p:cNvPr>
              <p:cNvSpPr txBox="1"/>
              <p:nvPr/>
            </p:nvSpPr>
            <p:spPr>
              <a:xfrm>
                <a:off x="1712682" y="5356865"/>
                <a:ext cx="2106987" cy="4206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altLang="ko-KR" sz="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𝑡𝑎𝑟</m:t>
                          </m:r>
                        </m:sup>
                      </m:sSubSup>
                      <m:r>
                        <a:rPr lang="en-US" altLang="ko-KR" sz="8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  <m:t> 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ko-KR" sz="800" b="0" i="1" smtClean="0">
                                  <a:latin typeface="Cambria Math" panose="02040503050406030204" pitchFamily="18" charset="0"/>
                                </a:rPr>
                                <m:t>           </m:t>
                              </m:r>
                              <m: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ko-KR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ko-KR" sz="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ko-KR" sz="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ko-KR" sz="8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8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  <m:sup>
                                          <m:r>
                                            <a:rPr lang="en-US" altLang="ko-KR" sz="800" b="0" i="1" smtClean="0">
                                              <a:latin typeface="Cambria Math" panose="02040503050406030204" pitchFamily="18" charset="0"/>
                                            </a:rPr>
                                            <m:t>\</m:t>
                                          </m:r>
                                          <m:r>
                                            <a:rPr lang="en-US" altLang="ko-KR" sz="800" i="1"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bSup>
                                      <m:d>
                                        <m:dPr>
                                          <m:ctrlPr>
                                            <a:rPr lang="en-US" altLang="ko-KR" sz="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ko-KR" sz="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ko-KR" sz="800" i="1">
                                                  <a:latin typeface="Cambria Math" panose="02040503050406030204" pitchFamily="18" charset="0"/>
                                                </a:rPr>
                                                <m:t>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ko-KR" sz="8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altLang="ko-KR" sz="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nary>
                                        <m:naryPr>
                                          <m:chr m:val="∑"/>
                                          <m:limLoc m:val="undOvr"/>
                                          <m:ctrlPr>
                                            <a:rPr lang="en-US" altLang="ko-KR" sz="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altLang="ko-KR" sz="8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altLang="ko-KR" sz="800" i="1">
                                              <a:latin typeface="Cambria Math" panose="02040503050406030204" pitchFamily="18" charset="0"/>
                                            </a:rPr>
                                            <m:t>=0</m:t>
                                          </m:r>
                                        </m:sub>
                                        <m:sup>
                                          <m:r>
                                            <a:rPr lang="en-US" altLang="ko-KR" sz="8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p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ko-KR" sz="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ko-KR" sz="800" i="1"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ko-KR" sz="800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  <m:sSubSup>
                                        <m:sSubSupPr>
                                          <m:ctrlPr>
                                            <a:rPr lang="en-US" altLang="ko-KR" sz="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ko-KR" sz="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8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  <m:sup>
                                          <m:r>
                                            <a:rPr lang="en-US" altLang="ko-KR" sz="800" b="0" i="1" smtClean="0">
                                              <a:latin typeface="Cambria Math" panose="02040503050406030204" pitchFamily="18" charset="0"/>
                                            </a:rPr>
                                            <m:t>\</m:t>
                                          </m:r>
                                          <m:r>
                                            <a:rPr lang="en-US" altLang="ko-KR" sz="800" i="1"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bSup>
                                      <m:sSup>
                                        <m:sSupPr>
                                          <m:ctrlPr>
                                            <a:rPr lang="en-US" altLang="ko-KR" sz="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en-US" altLang="ko-KR" sz="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altLang="ko-KR" sz="8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ko-KR" sz="800" i="1">
                                                      <a:latin typeface="Cambria Math" panose="02040503050406030204" pitchFamily="18" charset="0"/>
                                                    </a:rPr>
                                                    <m:t>ℓ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ko-KR" sz="8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𝑘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altLang="ko-KR" sz="8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ko-KR" altLang="en-US" sz="800" dirty="0"/>
              </a:p>
            </p:txBody>
          </p:sp>
        </mc:Choice>
        <mc:Fallback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830ECA35-D2B8-3B67-7F82-5919E4E558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2682" y="5356865"/>
                <a:ext cx="2106987" cy="420693"/>
              </a:xfrm>
              <a:prstGeom prst="rect">
                <a:avLst/>
              </a:prstGeom>
              <a:blipFill>
                <a:blip r:embed="rId11"/>
                <a:stretch>
                  <a:fillRect l="-289" t="-86957" r="-6936" b="-1391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EEBC0233-316D-8C53-9967-778419D036E7}"/>
              </a:ext>
            </a:extLst>
          </p:cNvPr>
          <p:cNvCxnSpPr>
            <a:cxnSpLocks/>
          </p:cNvCxnSpPr>
          <p:nvPr/>
        </p:nvCxnSpPr>
        <p:spPr bwMode="auto">
          <a:xfrm>
            <a:off x="5635036" y="5084101"/>
            <a:ext cx="2160240" cy="23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D9E6DFDC-3921-BF0F-7651-868B252D9664}"/>
              </a:ext>
            </a:extLst>
          </p:cNvPr>
          <p:cNvCxnSpPr>
            <a:cxnSpLocks/>
          </p:cNvCxnSpPr>
          <p:nvPr/>
        </p:nvCxnSpPr>
        <p:spPr bwMode="auto">
          <a:xfrm flipV="1">
            <a:off x="5635036" y="5000837"/>
            <a:ext cx="0" cy="166767"/>
          </a:xfrm>
          <a:prstGeom prst="line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9235AECA-264D-4FC2-4D1A-E65EE9FCCF35}"/>
              </a:ext>
            </a:extLst>
          </p:cNvPr>
          <p:cNvCxnSpPr>
            <a:cxnSpLocks/>
          </p:cNvCxnSpPr>
          <p:nvPr/>
        </p:nvCxnSpPr>
        <p:spPr bwMode="auto">
          <a:xfrm flipV="1">
            <a:off x="7795276" y="5000837"/>
            <a:ext cx="0" cy="166767"/>
          </a:xfrm>
          <a:prstGeom prst="line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D977E28E-A4BD-CB65-E78D-7F811DD968DA}"/>
              </a:ext>
            </a:extLst>
          </p:cNvPr>
          <p:cNvSpPr txBox="1"/>
          <p:nvPr/>
        </p:nvSpPr>
        <p:spPr>
          <a:xfrm>
            <a:off x="6184014" y="5071511"/>
            <a:ext cx="11230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Long Wheelbase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545D994-F5CC-E698-EA5E-B1370CC63945}"/>
              </a:ext>
            </a:extLst>
          </p:cNvPr>
          <p:cNvSpPr txBox="1"/>
          <p:nvPr/>
        </p:nvSpPr>
        <p:spPr>
          <a:xfrm>
            <a:off x="8731365" y="3924653"/>
            <a:ext cx="11230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steering backlash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375B557-426F-2316-2C62-976AC9E40F29}"/>
              </a:ext>
            </a:extLst>
          </p:cNvPr>
          <p:cNvSpPr txBox="1"/>
          <p:nvPr/>
        </p:nvSpPr>
        <p:spPr>
          <a:xfrm>
            <a:off x="8731365" y="4304607"/>
            <a:ext cx="99082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response delay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1" name="그림 80">
            <a:extLst>
              <a:ext uri="{FF2B5EF4-FFF2-40B4-BE49-F238E27FC236}">
                <a16:creationId xmlns:a16="http://schemas.microsoft.com/office/drawing/2014/main" id="{99FBCF8F-A943-3E15-7CDE-41D06BE7C709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7877" t="17628" r="21758" b="24352"/>
          <a:stretch>
            <a:fillRect/>
          </a:stretch>
        </p:blipFill>
        <p:spPr>
          <a:xfrm>
            <a:off x="8224484" y="4253929"/>
            <a:ext cx="494406" cy="316800"/>
          </a:xfrm>
          <a:prstGeom prst="rect">
            <a:avLst/>
          </a:prstGeom>
        </p:spPr>
      </p:pic>
      <p:sp>
        <p:nvSpPr>
          <p:cNvPr id="82" name="직사각형 81">
            <a:extLst>
              <a:ext uri="{FF2B5EF4-FFF2-40B4-BE49-F238E27FC236}">
                <a16:creationId xmlns:a16="http://schemas.microsoft.com/office/drawing/2014/main" id="{0C38F24F-DE3D-840B-2222-A8B0F13143BE}"/>
              </a:ext>
            </a:extLst>
          </p:cNvPr>
          <p:cNvSpPr/>
          <p:nvPr/>
        </p:nvSpPr>
        <p:spPr bwMode="auto">
          <a:xfrm>
            <a:off x="5168664" y="5624280"/>
            <a:ext cx="3226174" cy="118084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777875" marR="0" indent="-298450" algn="l" defTabSz="957263" rtl="0" eaLnBrk="1" fontAlgn="base" latinLnBrk="1" hangingPunct="1">
              <a:lnSpc>
                <a:spcPct val="16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None/>
              <a:tabLst/>
            </a:pPr>
            <a:endParaRPr kumimoji="1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A9D4FAF7-3AFF-2708-DE7E-9004247BC81E}"/>
              </a:ext>
            </a:extLst>
          </p:cNvPr>
          <p:cNvSpPr/>
          <p:nvPr/>
        </p:nvSpPr>
        <p:spPr bwMode="auto">
          <a:xfrm>
            <a:off x="6858277" y="5549491"/>
            <a:ext cx="2914680" cy="110826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777875" marR="0" indent="-298450" algn="l" defTabSz="957263" rtl="0" eaLnBrk="1" fontAlgn="base" latinLnBrk="1" hangingPunct="1">
              <a:lnSpc>
                <a:spcPct val="16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None/>
              <a:tabLst/>
            </a:pPr>
            <a:endParaRPr kumimoji="1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8AA0661-5FE6-A69B-6C53-F11B36120A01}"/>
              </a:ext>
            </a:extLst>
          </p:cNvPr>
          <p:cNvSpPr txBox="1"/>
          <p:nvPr/>
        </p:nvSpPr>
        <p:spPr>
          <a:xfrm>
            <a:off x="8608148" y="4709725"/>
            <a:ext cx="12463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high mass &amp; inertia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309571E2-8815-D38A-5307-6B187E05796E}"/>
              </a:ext>
            </a:extLst>
          </p:cNvPr>
          <p:cNvSpPr/>
          <p:nvPr/>
        </p:nvSpPr>
        <p:spPr bwMode="auto">
          <a:xfrm>
            <a:off x="5200606" y="5547871"/>
            <a:ext cx="1589162" cy="110826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777875" marR="0" indent="-298450" algn="l" defTabSz="957263" rtl="0" eaLnBrk="1" fontAlgn="base" latinLnBrk="1" hangingPunct="1">
              <a:lnSpc>
                <a:spcPct val="16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None/>
              <a:tabLst/>
            </a:pPr>
            <a:endParaRPr kumimoji="1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BEDEA42-F2B1-5A84-3726-A2DB4DF64EBC}"/>
              </a:ext>
            </a:extLst>
          </p:cNvPr>
          <p:cNvSpPr txBox="1"/>
          <p:nvPr/>
        </p:nvSpPr>
        <p:spPr>
          <a:xfrm>
            <a:off x="5351071" y="5576536"/>
            <a:ext cx="12950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상용차 주행 제약조건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3CEB737-73E1-DC46-6E4E-904ED603FA8E}"/>
              </a:ext>
            </a:extLst>
          </p:cNvPr>
          <p:cNvSpPr txBox="1"/>
          <p:nvPr/>
        </p:nvSpPr>
        <p:spPr>
          <a:xfrm>
            <a:off x="5237401" y="5818265"/>
            <a:ext cx="1429866" cy="717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곡률 제한</a:t>
            </a:r>
            <a:endParaRPr lang="en-US" altLang="ko-KR" sz="7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곡률 변화율 제한</a:t>
            </a:r>
            <a:endParaRPr lang="en-US" altLang="ko-KR" sz="7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횡가속도 제한</a:t>
            </a:r>
            <a:endParaRPr lang="en-US" altLang="ko-KR" sz="7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7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조향</a:t>
            </a:r>
            <a:r>
              <a:rPr lang="ko-KR" altLang="en-US" sz="7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응답 제한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571EDB8-1F4A-CA67-D347-C418D625C28C}"/>
              </a:ext>
            </a:extLst>
          </p:cNvPr>
          <p:cNvSpPr txBox="1"/>
          <p:nvPr/>
        </p:nvSpPr>
        <p:spPr>
          <a:xfrm>
            <a:off x="7607775" y="5576536"/>
            <a:ext cx="14863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목표 경로 최적화 비용함수</a:t>
            </a:r>
          </a:p>
        </p:txBody>
      </p:sp>
      <p:pic>
        <p:nvPicPr>
          <p:cNvPr id="89" name="그림 88">
            <a:extLst>
              <a:ext uri="{FF2B5EF4-FFF2-40B4-BE49-F238E27FC236}">
                <a16:creationId xmlns:a16="http://schemas.microsoft.com/office/drawing/2014/main" id="{86369D8A-9F86-8EDB-AB29-D4B5BCFC7745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55" t="33508" r="65943" b="37825"/>
          <a:stretch>
            <a:fillRect/>
          </a:stretch>
        </p:blipFill>
        <p:spPr>
          <a:xfrm>
            <a:off x="8282187" y="3890358"/>
            <a:ext cx="379001" cy="284034"/>
          </a:xfrm>
          <a:prstGeom prst="rect">
            <a:avLst/>
          </a:prstGeom>
        </p:spPr>
      </p:pic>
      <p:pic>
        <p:nvPicPr>
          <p:cNvPr id="90" name="그림 89">
            <a:extLst>
              <a:ext uri="{FF2B5EF4-FFF2-40B4-BE49-F238E27FC236}">
                <a16:creationId xmlns:a16="http://schemas.microsoft.com/office/drawing/2014/main" id="{541C0A4C-EB2E-4F0F-05E2-9B17E41296FE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11558" t="13284" r="11136" b="14996"/>
          <a:stretch>
            <a:fillRect/>
          </a:stretch>
        </p:blipFill>
        <p:spPr>
          <a:xfrm>
            <a:off x="8326434" y="4650265"/>
            <a:ext cx="290507" cy="269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4238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9F99A-E28E-8BDD-0E50-7F72E24A0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13E0607-2F36-73BE-D2BB-5347FE0E5258}"/>
              </a:ext>
            </a:extLst>
          </p:cNvPr>
          <p:cNvSpPr txBox="1"/>
          <p:nvPr/>
        </p:nvSpPr>
        <p:spPr>
          <a:xfrm>
            <a:off x="1304364" y="599583"/>
            <a:ext cx="78396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연구내용 및 평가방법 </a:t>
            </a:r>
            <a:endParaRPr lang="ko-KR" altLang="en-US" sz="2800" i="1" dirty="0">
              <a:solidFill>
                <a:srgbClr val="FF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" name="AutoShape 176">
            <a:extLst>
              <a:ext uri="{FF2B5EF4-FFF2-40B4-BE49-F238E27FC236}">
                <a16:creationId xmlns:a16="http://schemas.microsoft.com/office/drawing/2014/main" id="{CE976A4B-BE6B-DA1C-A8E6-CDBE084EA3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158" y="1433986"/>
            <a:ext cx="9001062" cy="558006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lIns="95735" tIns="47870" rIns="95735" bIns="47870"/>
          <a:lstStyle>
            <a:lvl1pPr marL="179388" indent="-179388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536575" indent="-889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marL="0" indent="0" eaLnBrk="1" hangingPunct="1">
              <a:spcBef>
                <a:spcPts val="600"/>
              </a:spcBef>
              <a:buSzPct val="100000"/>
              <a:defRPr/>
            </a:pP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상용차 기준 목표 경로 생성 알고리즘 개발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11187" indent="-342900" eaLnBrk="1" hangingPunct="1">
              <a:spcBef>
                <a:spcPts val="600"/>
              </a:spcBef>
              <a:buClr>
                <a:schemeClr val="tx1"/>
              </a:buClr>
              <a:buSzPct val="100000"/>
              <a:buFont typeface="+mj-lt"/>
              <a:buAutoNum type="arabicParenR" startAt="2"/>
              <a:defRPr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편향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차로변경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취소 시나리오 시 경로 생성 알고리즘 개발 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96924" lvl="1" indent="-171450" eaLnBrk="1" hangingPunct="1">
              <a:spcBef>
                <a:spcPts val="600"/>
              </a:spcBef>
              <a:buClr>
                <a:schemeClr val="tx1"/>
              </a:buClr>
              <a:buSzPct val="100000"/>
              <a:buFontTx/>
              <a:buChar char="-"/>
              <a:defRPr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차로 중심 목표 경로에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lateral offset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부여하여 편향 주행 목표 정의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96924" lvl="1" indent="-171450" eaLnBrk="1" hangingPunct="1">
              <a:spcBef>
                <a:spcPts val="600"/>
              </a:spcBef>
              <a:buClr>
                <a:schemeClr val="tx1"/>
              </a:buClr>
              <a:buSzPct val="100000"/>
              <a:buFontTx/>
              <a:buChar char="-"/>
              <a:defRPr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차로 변경 및 취소 상황에서 목표 차로 전환 반영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96924" lvl="1" indent="-171450" eaLnBrk="1" hangingPunct="1">
              <a:spcBef>
                <a:spcPts val="600"/>
              </a:spcBef>
              <a:buClr>
                <a:schemeClr val="tx1"/>
              </a:buClr>
              <a:buSzPct val="100000"/>
              <a:buFontTx/>
              <a:buChar char="-"/>
              <a:defRPr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주행 목표 변경 시 곡률 및 곡률 변화율 제약을 반영하여 목표 경로 생성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252FE30-8956-E2B3-15E3-064104FFFBF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090" t="11252" r="1388" b="14481"/>
          <a:stretch/>
        </p:blipFill>
        <p:spPr>
          <a:xfrm>
            <a:off x="3319702" y="3357431"/>
            <a:ext cx="4052407" cy="34203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EB767F4-75FC-D10A-0E69-E0345D574CF1}"/>
              </a:ext>
            </a:extLst>
          </p:cNvPr>
          <p:cNvSpPr txBox="1"/>
          <p:nvPr/>
        </p:nvSpPr>
        <p:spPr>
          <a:xfrm>
            <a:off x="10134769" y="7077075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E2886697-6AD6-4FDA-9E51-14A767932366}" type="slidenum">
              <a:rPr lang="ko-KR" altLang="en-US" sz="1200" smtClean="0"/>
              <a:t>11</a:t>
            </a:fld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259099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26C85-5939-21A5-8EE0-F16319CAE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A46E48B-46D5-3257-0DDB-14376012A908}"/>
              </a:ext>
            </a:extLst>
          </p:cNvPr>
          <p:cNvSpPr txBox="1"/>
          <p:nvPr/>
        </p:nvSpPr>
        <p:spPr>
          <a:xfrm>
            <a:off x="1304364" y="599583"/>
            <a:ext cx="78396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>
                <a:solidFill>
                  <a:schemeClr val="bg1"/>
                </a:solidFill>
                <a:latin typeface="맑은 고딕" panose="020B0503020000020004" pitchFamily="50" charset="-127"/>
              </a:rPr>
              <a:t>향후 추진 일정</a:t>
            </a:r>
            <a:endParaRPr lang="ko-KR" altLang="en-US" sz="2000" i="1" dirty="0">
              <a:solidFill>
                <a:srgbClr val="FF0000"/>
              </a:solidFill>
              <a:latin typeface="맑은 고딕" panose="020B0503020000020004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183FBE5-25E4-DBC2-6ABD-795EA41D3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272" y="1575882"/>
            <a:ext cx="8711267" cy="552039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CB132A2-7DDE-E7C6-E6F2-85F4AA101B4C}"/>
              </a:ext>
            </a:extLst>
          </p:cNvPr>
          <p:cNvSpPr txBox="1"/>
          <p:nvPr/>
        </p:nvSpPr>
        <p:spPr>
          <a:xfrm>
            <a:off x="10134769" y="7077075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E2886697-6AD6-4FDA-9E51-14A767932366}" type="slidenum">
              <a:rPr lang="ko-KR" altLang="en-US" sz="1200" smtClean="0"/>
              <a:t>12</a:t>
            </a:fld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4739102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7A0A1E17-25C5-42A0-A73F-9F651ADF7684}"/>
              </a:ext>
            </a:extLst>
          </p:cNvPr>
          <p:cNvSpPr txBox="1"/>
          <p:nvPr/>
        </p:nvSpPr>
        <p:spPr>
          <a:xfrm>
            <a:off x="2673784" y="3318172"/>
            <a:ext cx="53442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5400" b="1" kern="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감사합니다</a:t>
            </a:r>
            <a:endParaRPr lang="ko-KR" altLang="en-US" sz="54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F2C56C-2670-C2E1-7291-9AB8D02D6D0F}"/>
              </a:ext>
            </a:extLst>
          </p:cNvPr>
          <p:cNvSpPr txBox="1"/>
          <p:nvPr/>
        </p:nvSpPr>
        <p:spPr>
          <a:xfrm>
            <a:off x="2673784" y="1711613"/>
            <a:ext cx="53442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1" ker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</a:t>
            </a:r>
            <a:r>
              <a:rPr lang="ko-KR" altLang="en-US" sz="2000" b="1" ker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2000" b="1" ker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UROPI</a:t>
            </a:r>
            <a:endParaRPr lang="ko-KR" altLang="en-US" sz="2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F13B96-D580-1D75-E893-816DDF3F41CE}"/>
              </a:ext>
            </a:extLst>
          </p:cNvPr>
          <p:cNvSpPr txBox="1"/>
          <p:nvPr/>
        </p:nvSpPr>
        <p:spPr>
          <a:xfrm>
            <a:off x="3095074" y="2111723"/>
            <a:ext cx="450166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3200" b="1" ker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연구</a:t>
            </a:r>
            <a:r>
              <a:rPr lang="en-US" altLang="ko-KR" sz="3200" b="1" ker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3200" b="1" ker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계획서</a:t>
            </a:r>
            <a:endParaRPr lang="ko-KR" altLang="en-US" sz="32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B1DF064-81ED-96CC-6653-193FC1FB2E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5368" b="-4672"/>
          <a:stretch/>
        </p:blipFill>
        <p:spPr>
          <a:xfrm>
            <a:off x="170959" y="7089688"/>
            <a:ext cx="1551964" cy="441942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7A070ACC-F1BC-4A1C-BAB4-03245FD7EBE8}"/>
              </a:ext>
            </a:extLst>
          </p:cNvPr>
          <p:cNvGrpSpPr/>
          <p:nvPr/>
        </p:nvGrpSpPr>
        <p:grpSpPr>
          <a:xfrm>
            <a:off x="9015754" y="7056194"/>
            <a:ext cx="1505101" cy="489206"/>
            <a:chOff x="7509620" y="274007"/>
            <a:chExt cx="1505101" cy="489206"/>
          </a:xfrm>
        </p:grpSpPr>
        <p:pic>
          <p:nvPicPr>
            <p:cNvPr id="9" name="Picture 4">
              <a:extLst>
                <a:ext uri="{FF2B5EF4-FFF2-40B4-BE49-F238E27FC236}">
                  <a16:creationId xmlns:a16="http://schemas.microsoft.com/office/drawing/2014/main" id="{8053E341-8550-4100-A266-6B869F2BD52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09620" y="274007"/>
              <a:ext cx="690198" cy="4892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66A0F94-C429-4441-9509-0DC51D3288E0}"/>
                </a:ext>
              </a:extLst>
            </p:cNvPr>
            <p:cNvSpPr txBox="1"/>
            <p:nvPr userDrawn="1"/>
          </p:nvSpPr>
          <p:spPr>
            <a:xfrm>
              <a:off x="8009318" y="287778"/>
              <a:ext cx="10054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b="1">
                  <a:solidFill>
                    <a:srgbClr val="5BA6D0"/>
                  </a:solidFill>
                  <a:latin typeface="+mn-lt"/>
                </a:rPr>
                <a:t>     충북대학교</a:t>
              </a:r>
              <a:endParaRPr lang="en-US" altLang="ko-KR" sz="800" b="1">
                <a:solidFill>
                  <a:srgbClr val="5BA6D0"/>
                </a:solidFill>
                <a:latin typeface="+mn-lt"/>
              </a:endParaRPr>
            </a:p>
            <a:p>
              <a:r>
                <a:rPr lang="ko-KR" altLang="en-US" sz="800" b="1">
                  <a:solidFill>
                    <a:srgbClr val="5BA6D0"/>
                  </a:solidFill>
                  <a:latin typeface="+mn-lt"/>
                </a:rPr>
                <a:t>혁신융합대학사업</a:t>
              </a:r>
              <a:endParaRPr lang="en-US" altLang="ko-KR" sz="800" b="1">
                <a:solidFill>
                  <a:srgbClr val="5BA6D0"/>
                </a:solidFill>
                <a:latin typeface="+mn-lt"/>
              </a:endParaRPr>
            </a:p>
            <a:p>
              <a:r>
                <a:rPr lang="ko-KR" altLang="en-US" sz="800" b="1">
                  <a:solidFill>
                    <a:srgbClr val="5BA6D0"/>
                  </a:solidFill>
                  <a:latin typeface="+mn-lt"/>
                </a:rPr>
                <a:t>미래자동차공학과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30395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48E678091357F24E8F48B77CA27B8190" ma:contentTypeVersion="13" ma:contentTypeDescription="새 문서를 만듭니다." ma:contentTypeScope="" ma:versionID="8f56fd7f689ce8c4e9cc7557b2243415">
  <xsd:schema xmlns:xsd="http://www.w3.org/2001/XMLSchema" xmlns:xs="http://www.w3.org/2001/XMLSchema" xmlns:p="http://schemas.microsoft.com/office/2006/metadata/properties" xmlns:ns2="df922d41-91bf-45f8-8b2c-e1591bc010d5" xmlns:ns3="ad4f9fb4-0e06-43e2-8892-d19b32436ccd" targetNamespace="http://schemas.microsoft.com/office/2006/metadata/properties" ma:root="true" ma:fieldsID="8e09176fa42ed14ec2a885492b4aa618" ns2:_="" ns3:_="">
    <xsd:import namespace="df922d41-91bf-45f8-8b2c-e1591bc010d5"/>
    <xsd:import namespace="ad4f9fb4-0e06-43e2-8892-d19b32436c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922d41-91bf-45f8-8b2c-e1591bc010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4f9fb4-0e06-43e2-8892-d19b32436cc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D231E1B-5A7F-4612-ACBB-3B64E708B4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f922d41-91bf-45f8-8b2c-e1591bc010d5"/>
    <ds:schemaRef ds:uri="ad4f9fb4-0e06-43e2-8892-d19b32436c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E265FB1-6595-466A-9A0F-D3A2C10053A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F7F1398-980A-4A53-9022-8C90FB6A33AD}">
  <ds:schemaRefs>
    <ds:schemaRef ds:uri="http://purl.org/dc/terms/"/>
    <ds:schemaRef ds:uri="http://schemas.microsoft.com/office/2006/documentManagement/types"/>
    <ds:schemaRef ds:uri="df922d41-91bf-45f8-8b2c-e1591bc010d5"/>
    <ds:schemaRef ds:uri="http://purl.org/dc/dcmitype/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ad4f9fb4-0e06-43e2-8892-d19b32436ccd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5214</TotalTime>
  <Words>1269</Words>
  <Application>Microsoft Office PowerPoint</Application>
  <PresentationFormat>사용자 지정</PresentationFormat>
  <Paragraphs>189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1" baseType="lpstr">
      <vt:lpstr>HY헤드라인M</vt:lpstr>
      <vt:lpstr>Malgun Gothic</vt:lpstr>
      <vt:lpstr>Malgun Gothic</vt:lpstr>
      <vt:lpstr>Arial</vt:lpstr>
      <vt:lpstr>Calibri</vt:lpstr>
      <vt:lpstr>Cambria Math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MJ</dc:creator>
  <cp:lastModifiedBy>여진승</cp:lastModifiedBy>
  <cp:revision>274</cp:revision>
  <cp:lastPrinted>2024-05-22T02:14:19Z</cp:lastPrinted>
  <dcterms:created xsi:type="dcterms:W3CDTF">2021-11-09T05:01:52Z</dcterms:created>
  <dcterms:modified xsi:type="dcterms:W3CDTF">2026-09-18T05:00:57Z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0x01010048E678091357F24E8F48B77CA27B8190</vt:lpwstr>
  </property>
</Properties>
</file>